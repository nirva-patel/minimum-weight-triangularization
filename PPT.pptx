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18288000" cy="10287000"/>
  <p:notesSz cx="6858000" cy="9144000"/>
  <p:embeddedFontLst>
    <p:embeddedFont>
      <p:font typeface="Cormorant Garamond Bold Italics" charset="1" panose="00000800000000000000"/>
      <p:regular r:id="rId59"/>
    </p:embeddedFont>
    <p:embeddedFont>
      <p:font typeface="Quicksand" charset="1" panose="00000000000000000000"/>
      <p:regular r:id="rId60"/>
    </p:embeddedFont>
    <p:embeddedFont>
      <p:font typeface="Open Sans" charset="1" panose="00000000000000000000"/>
      <p:regular r:id="rId61"/>
    </p:embeddedFont>
    <p:embeddedFont>
      <p:font typeface="Open Sans Bold" charset="1" panose="00000000000000000000"/>
      <p:regular r:id="rId62"/>
    </p:embeddedFont>
    <p:embeddedFont>
      <p:font typeface="Quicksand Bold" charset="1" panose="00000000000000000000"/>
      <p:regular r:id="rId6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63" Target="fonts/font63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1886692" y="3821171"/>
            <a:ext cx="22061385" cy="181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867"/>
              </a:lnSpc>
              <a:spcBef>
                <a:spcPct val="0"/>
              </a:spcBef>
            </a:pPr>
            <a:r>
              <a:rPr lang="en-US" b="true" sz="1061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Minimum Weight Triangulation</a:t>
            </a:r>
          </a:p>
        </p:txBody>
      </p:sp>
      <p:sp>
        <p:nvSpPr>
          <p:cNvPr name="AutoShape 6" id="6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52274" y="7154165"/>
            <a:ext cx="12812922" cy="8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Prof. Rachit Chhaya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09134" y="2059402"/>
            <a:ext cx="12812922" cy="8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App</a:t>
            </a: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roximation Algorithm IT 584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63754" y="5020945"/>
            <a:ext cx="9960491" cy="338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9"/>
              </a:lnSpc>
            </a:pPr>
            <a:r>
              <a:rPr lang="en-US" sz="3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Nirva Patel – 202201071</a:t>
            </a:r>
          </a:p>
          <a:p>
            <a:pPr algn="ctr">
              <a:lnSpc>
                <a:spcPts val="5439"/>
              </a:lnSpc>
            </a:pPr>
            <a:r>
              <a:rPr lang="en-US" sz="3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Vidhi Dhanani – 202201076</a:t>
            </a:r>
          </a:p>
          <a:p>
            <a:pPr algn="ctr">
              <a:lnSpc>
                <a:spcPts val="5439"/>
              </a:lnSpc>
            </a:pPr>
            <a:r>
              <a:rPr lang="en-US" sz="3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Kashvi Bhanderi – 202201149</a:t>
            </a:r>
          </a:p>
          <a:p>
            <a:pPr algn="ctr">
              <a:lnSpc>
                <a:spcPts val="5439"/>
              </a:lnSpc>
            </a:pPr>
            <a:r>
              <a:rPr lang="en-US" sz="3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Gunjan Saroliya – 202201225</a:t>
            </a:r>
          </a:p>
          <a:p>
            <a:pPr algn="ctr" marL="0" indent="0" lvl="0">
              <a:lnSpc>
                <a:spcPts val="5439"/>
              </a:lnSpc>
            </a:pPr>
            <a:r>
              <a:rPr lang="en-US" sz="31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Aastha Bhavsar – 202201259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499475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97880" y="8596789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304001" y="4333242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77403" y="1085167"/>
            <a:ext cx="1106450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Prepared By – Group Members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359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44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063191"/>
            <a:ext cx="1635800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20"/>
              </a:lnSpc>
              <a:spcBef>
                <a:spcPct val="0"/>
              </a:spcBef>
            </a:pPr>
            <a:r>
              <a:rPr lang="en-US" sz="36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Triangulation is a fundamental probl</a:t>
            </a:r>
            <a:r>
              <a:rPr lang="en-US" sz="36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em in computational geometry with important applications in computer graphics, geographical information systems, mesh generation, and f inite element analysis.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40964" y="373063"/>
            <a:ext cx="13878672" cy="114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9"/>
              </a:lnSpc>
              <a:spcBef>
                <a:spcPct val="0"/>
              </a:spcBef>
            </a:pPr>
            <a:r>
              <a:rPr lang="en-US" b="true" sz="56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359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44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40964" y="373063"/>
            <a:ext cx="13878672" cy="114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9"/>
              </a:lnSpc>
              <a:spcBef>
                <a:spcPct val="0"/>
              </a:spcBef>
            </a:pPr>
            <a:r>
              <a:rPr lang="en-US" b="true" sz="56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Triangularization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021766" y="3786405"/>
            <a:ext cx="4075503" cy="3509159"/>
            <a:chOff x="0" y="0"/>
            <a:chExt cx="5434005" cy="467887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434005" cy="4678878"/>
              <a:chOff x="0" y="0"/>
              <a:chExt cx="2493032" cy="214659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493032" cy="2146592"/>
              </a:xfrm>
              <a:custGeom>
                <a:avLst/>
                <a:gdLst/>
                <a:ahLst/>
                <a:cxnLst/>
                <a:rect r="r" b="b" t="t" l="l"/>
                <a:pathLst>
                  <a:path h="2146592" w="2493032">
                    <a:moveTo>
                      <a:pt x="0" y="0"/>
                    </a:moveTo>
                    <a:lnTo>
                      <a:pt x="2493032" y="0"/>
                    </a:lnTo>
                    <a:lnTo>
                      <a:pt x="2493032" y="2146592"/>
                    </a:lnTo>
                    <a:lnTo>
                      <a:pt x="0" y="2146592"/>
                    </a:lnTo>
                    <a:close/>
                  </a:path>
                </a:pathLst>
              </a:custGeom>
              <a:solidFill>
                <a:srgbClr val="F8F8F8"/>
              </a:solidFill>
              <a:ln w="38100" cap="sq">
                <a:solidFill>
                  <a:srgbClr val="0F4662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123825"/>
                <a:ext cx="2493032" cy="22704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3408628" y="475173"/>
              <a:ext cx="182190" cy="18219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833350" y="1912933"/>
              <a:ext cx="182190" cy="182190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545707" y="292983"/>
              <a:ext cx="182190" cy="18219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25851" y="3053890"/>
              <a:ext cx="182190" cy="182190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2274700" y="475173"/>
              <a:ext cx="182190" cy="182190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061415" y="2058708"/>
              <a:ext cx="182190" cy="182190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525661" y="1639647"/>
              <a:ext cx="182190" cy="182190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545707" y="852251"/>
              <a:ext cx="182190" cy="182190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001183" y="1730743"/>
              <a:ext cx="182190" cy="182190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534238" y="1388002"/>
              <a:ext cx="182190" cy="182190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727897" y="3144985"/>
              <a:ext cx="182190" cy="182190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2183373" y="943346"/>
              <a:ext cx="182190" cy="182190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352047" y="384078"/>
              <a:ext cx="182190" cy="182190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4197831" y="2700329"/>
              <a:ext cx="182190" cy="182190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2274700" y="3979094"/>
              <a:ext cx="182190" cy="182190"/>
              <a:chOff x="0" y="0"/>
              <a:chExt cx="812800" cy="812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1090231" y="3887998"/>
              <a:ext cx="182190" cy="182190"/>
              <a:chOff x="0" y="0"/>
              <a:chExt cx="812800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3754825" y="852251"/>
              <a:ext cx="182190" cy="182190"/>
              <a:chOff x="0" y="0"/>
              <a:chExt cx="812800" cy="8128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2974908" y="925081"/>
              <a:ext cx="182190" cy="182190"/>
              <a:chOff x="0" y="0"/>
              <a:chExt cx="812800" cy="812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3845920" y="3531547"/>
              <a:ext cx="182190" cy="182190"/>
              <a:chOff x="0" y="0"/>
              <a:chExt cx="812800" cy="812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4434566" y="943346"/>
              <a:ext cx="182190" cy="182190"/>
              <a:chOff x="0" y="0"/>
              <a:chExt cx="812800" cy="81280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4525661" y="4161284"/>
              <a:ext cx="182190" cy="182190"/>
              <a:chOff x="0" y="0"/>
              <a:chExt cx="812800" cy="8128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3157099" y="3887998"/>
              <a:ext cx="182190" cy="182190"/>
              <a:chOff x="0" y="0"/>
              <a:chExt cx="812800" cy="81280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sp>
          <p:nvSpPr>
            <p:cNvPr name="AutoShape 76" id="76"/>
            <p:cNvSpPr/>
            <p:nvPr/>
          </p:nvSpPr>
          <p:spPr>
            <a:xfrm>
              <a:off x="452445" y="459266"/>
              <a:ext cx="159173" cy="992495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7" id="77"/>
            <p:cNvSpPr/>
            <p:nvPr/>
          </p:nvSpPr>
          <p:spPr>
            <a:xfrm flipH="true">
              <a:off x="452445" y="308133"/>
              <a:ext cx="1199813" cy="151132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8" id="78"/>
            <p:cNvSpPr/>
            <p:nvPr/>
          </p:nvSpPr>
          <p:spPr>
            <a:xfrm>
              <a:off x="1652259" y="308133"/>
              <a:ext cx="0" cy="610827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9" id="79"/>
            <p:cNvSpPr/>
            <p:nvPr/>
          </p:nvSpPr>
          <p:spPr>
            <a:xfrm flipH="true" flipV="true">
              <a:off x="1652259" y="308133"/>
              <a:ext cx="696559" cy="276715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0" id="80"/>
            <p:cNvSpPr/>
            <p:nvPr/>
          </p:nvSpPr>
          <p:spPr>
            <a:xfrm flipH="true" flipV="true">
              <a:off x="452445" y="459266"/>
              <a:ext cx="1199813" cy="459694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1" id="81"/>
            <p:cNvSpPr/>
            <p:nvPr/>
          </p:nvSpPr>
          <p:spPr>
            <a:xfrm flipH="true">
              <a:off x="1652259" y="584848"/>
              <a:ext cx="782436" cy="334111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2" id="82"/>
            <p:cNvSpPr/>
            <p:nvPr/>
          </p:nvSpPr>
          <p:spPr>
            <a:xfrm>
              <a:off x="2348817" y="584848"/>
              <a:ext cx="1141989" cy="0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3" id="83"/>
            <p:cNvSpPr/>
            <p:nvPr/>
          </p:nvSpPr>
          <p:spPr>
            <a:xfrm>
              <a:off x="3490806" y="584848"/>
              <a:ext cx="286257" cy="334111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4" id="84"/>
            <p:cNvSpPr/>
            <p:nvPr/>
          </p:nvSpPr>
          <p:spPr>
            <a:xfrm>
              <a:off x="3777063" y="918960"/>
              <a:ext cx="753810" cy="85877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5" id="85"/>
            <p:cNvSpPr/>
            <p:nvPr/>
          </p:nvSpPr>
          <p:spPr>
            <a:xfrm>
              <a:off x="4530874" y="1004837"/>
              <a:ext cx="133587" cy="715635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6" id="86"/>
            <p:cNvSpPr/>
            <p:nvPr/>
          </p:nvSpPr>
          <p:spPr>
            <a:xfrm flipH="true">
              <a:off x="4254158" y="1720472"/>
              <a:ext cx="410302" cy="1116402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7" id="87"/>
            <p:cNvSpPr/>
            <p:nvPr/>
          </p:nvSpPr>
          <p:spPr>
            <a:xfrm>
              <a:off x="4254158" y="2836874"/>
              <a:ext cx="410302" cy="1396024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8" id="88"/>
            <p:cNvSpPr/>
            <p:nvPr/>
          </p:nvSpPr>
          <p:spPr>
            <a:xfrm flipH="true" flipV="true">
              <a:off x="3274382" y="4010528"/>
              <a:ext cx="1390078" cy="222370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9" id="89"/>
            <p:cNvSpPr/>
            <p:nvPr/>
          </p:nvSpPr>
          <p:spPr>
            <a:xfrm flipH="true">
              <a:off x="2348817" y="4010528"/>
              <a:ext cx="925564" cy="85877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0" id="90"/>
            <p:cNvSpPr/>
            <p:nvPr/>
          </p:nvSpPr>
          <p:spPr>
            <a:xfrm flipH="true" flipV="true">
              <a:off x="1189190" y="4010528"/>
              <a:ext cx="1159628" cy="85877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1" id="91"/>
            <p:cNvSpPr/>
            <p:nvPr/>
          </p:nvSpPr>
          <p:spPr>
            <a:xfrm flipH="true" flipV="true">
              <a:off x="788430" y="3150847"/>
              <a:ext cx="400760" cy="859681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2" id="92"/>
            <p:cNvSpPr/>
            <p:nvPr/>
          </p:nvSpPr>
          <p:spPr>
            <a:xfrm flipV="true">
              <a:off x="788430" y="2005819"/>
              <a:ext cx="104961" cy="1145028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3" id="93"/>
            <p:cNvSpPr/>
            <p:nvPr/>
          </p:nvSpPr>
          <p:spPr>
            <a:xfrm flipH="true" flipV="true">
              <a:off x="611618" y="1451761"/>
              <a:ext cx="281773" cy="554058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4" id="94"/>
            <p:cNvSpPr/>
            <p:nvPr/>
          </p:nvSpPr>
          <p:spPr>
            <a:xfrm>
              <a:off x="1652259" y="918960"/>
              <a:ext cx="610682" cy="85877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5" id="95"/>
            <p:cNvSpPr/>
            <p:nvPr/>
          </p:nvSpPr>
          <p:spPr>
            <a:xfrm flipV="true">
              <a:off x="2262940" y="584848"/>
              <a:ext cx="85877" cy="419989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6" id="96"/>
            <p:cNvSpPr/>
            <p:nvPr/>
          </p:nvSpPr>
          <p:spPr>
            <a:xfrm flipV="true">
              <a:off x="611618" y="1004837"/>
              <a:ext cx="1040640" cy="446924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7" id="97"/>
            <p:cNvSpPr/>
            <p:nvPr/>
          </p:nvSpPr>
          <p:spPr>
            <a:xfrm flipH="true" flipV="true">
              <a:off x="2348817" y="584848"/>
              <a:ext cx="727203" cy="419989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8" id="98"/>
            <p:cNvSpPr/>
            <p:nvPr/>
          </p:nvSpPr>
          <p:spPr>
            <a:xfrm flipV="true">
              <a:off x="3076020" y="584848"/>
              <a:ext cx="414786" cy="419989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9" id="99"/>
            <p:cNvSpPr/>
            <p:nvPr/>
          </p:nvSpPr>
          <p:spPr>
            <a:xfrm flipH="true">
              <a:off x="2262940" y="1004837"/>
              <a:ext cx="813080" cy="0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0" id="100"/>
            <p:cNvSpPr/>
            <p:nvPr/>
          </p:nvSpPr>
          <p:spPr>
            <a:xfrm flipH="true">
              <a:off x="3076020" y="918960"/>
              <a:ext cx="701043" cy="85877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1" id="101"/>
            <p:cNvSpPr/>
            <p:nvPr/>
          </p:nvSpPr>
          <p:spPr>
            <a:xfrm flipH="true" flipV="true">
              <a:off x="3860922" y="1004837"/>
              <a:ext cx="803538" cy="715635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2" id="102"/>
            <p:cNvSpPr/>
            <p:nvPr/>
          </p:nvSpPr>
          <p:spPr>
            <a:xfrm flipH="true">
              <a:off x="2124296" y="1101021"/>
              <a:ext cx="138644" cy="713960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3" id="103"/>
            <p:cNvSpPr/>
            <p:nvPr/>
          </p:nvSpPr>
          <p:spPr>
            <a:xfrm flipH="true" flipV="true">
              <a:off x="1652259" y="1004837"/>
              <a:ext cx="472038" cy="810144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4" id="104"/>
            <p:cNvSpPr/>
            <p:nvPr/>
          </p:nvSpPr>
          <p:spPr>
            <a:xfrm flipH="true">
              <a:off x="893391" y="1814981"/>
              <a:ext cx="1230905" cy="190838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5" id="105"/>
            <p:cNvSpPr/>
            <p:nvPr/>
          </p:nvSpPr>
          <p:spPr>
            <a:xfrm flipV="true">
              <a:off x="893391" y="1004837"/>
              <a:ext cx="758868" cy="1000982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6" id="106"/>
            <p:cNvSpPr/>
            <p:nvPr/>
          </p:nvSpPr>
          <p:spPr>
            <a:xfrm flipH="true">
              <a:off x="1838294" y="1892999"/>
              <a:ext cx="286002" cy="1257848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7" id="107"/>
            <p:cNvSpPr/>
            <p:nvPr/>
          </p:nvSpPr>
          <p:spPr>
            <a:xfrm flipH="true">
              <a:off x="2124296" y="1004837"/>
              <a:ext cx="951724" cy="810144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8" id="108"/>
            <p:cNvSpPr/>
            <p:nvPr/>
          </p:nvSpPr>
          <p:spPr>
            <a:xfrm flipH="true" flipV="true">
              <a:off x="2124296" y="1892999"/>
              <a:ext cx="1056685" cy="305341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9" id="109"/>
            <p:cNvSpPr/>
            <p:nvPr/>
          </p:nvSpPr>
          <p:spPr>
            <a:xfrm flipH="true" flipV="true">
              <a:off x="3076020" y="1004837"/>
              <a:ext cx="104961" cy="1193503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0" id="110"/>
            <p:cNvSpPr/>
            <p:nvPr/>
          </p:nvSpPr>
          <p:spPr>
            <a:xfrm flipH="true">
              <a:off x="1838294" y="2198340"/>
              <a:ext cx="1342687" cy="1067010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1" id="111"/>
            <p:cNvSpPr/>
            <p:nvPr/>
          </p:nvSpPr>
          <p:spPr>
            <a:xfrm flipH="true" flipV="true">
              <a:off x="969726" y="2005819"/>
              <a:ext cx="868568" cy="1259531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2" id="112"/>
            <p:cNvSpPr/>
            <p:nvPr/>
          </p:nvSpPr>
          <p:spPr>
            <a:xfrm flipH="true" flipV="true">
              <a:off x="893391" y="3150847"/>
              <a:ext cx="944903" cy="114503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3" id="113"/>
            <p:cNvSpPr/>
            <p:nvPr/>
          </p:nvSpPr>
          <p:spPr>
            <a:xfrm flipH="true" flipV="true">
              <a:off x="1838294" y="3265350"/>
              <a:ext cx="510524" cy="831056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4" id="114"/>
            <p:cNvSpPr/>
            <p:nvPr/>
          </p:nvSpPr>
          <p:spPr>
            <a:xfrm flipV="true">
              <a:off x="1189190" y="3265350"/>
              <a:ext cx="649104" cy="650532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5" id="115"/>
            <p:cNvSpPr/>
            <p:nvPr/>
          </p:nvSpPr>
          <p:spPr>
            <a:xfrm flipH="true" flipV="true">
              <a:off x="3180981" y="2198340"/>
              <a:ext cx="93401" cy="1812189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6" id="116"/>
            <p:cNvSpPr/>
            <p:nvPr/>
          </p:nvSpPr>
          <p:spPr>
            <a:xfrm flipH="true" flipV="true">
              <a:off x="1838294" y="3265350"/>
              <a:ext cx="1436088" cy="650532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7" id="117"/>
            <p:cNvSpPr/>
            <p:nvPr/>
          </p:nvSpPr>
          <p:spPr>
            <a:xfrm flipH="true">
              <a:off x="3180981" y="1720472"/>
              <a:ext cx="1349893" cy="477868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8" id="118"/>
            <p:cNvSpPr/>
            <p:nvPr/>
          </p:nvSpPr>
          <p:spPr>
            <a:xfrm flipV="true">
              <a:off x="3180981" y="918960"/>
              <a:ext cx="679941" cy="1279380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9" id="119"/>
            <p:cNvSpPr/>
            <p:nvPr/>
          </p:nvSpPr>
          <p:spPr>
            <a:xfrm flipH="true" flipV="true">
              <a:off x="3180981" y="2198340"/>
              <a:ext cx="1073177" cy="638535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0" id="120"/>
            <p:cNvSpPr/>
            <p:nvPr/>
          </p:nvSpPr>
          <p:spPr>
            <a:xfrm flipH="true" flipV="true">
              <a:off x="3180981" y="2198340"/>
              <a:ext cx="763352" cy="1393118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1" id="121"/>
            <p:cNvSpPr/>
            <p:nvPr/>
          </p:nvSpPr>
          <p:spPr>
            <a:xfrm flipV="true">
              <a:off x="3944333" y="2836874"/>
              <a:ext cx="309825" cy="754583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2" id="122"/>
            <p:cNvSpPr/>
            <p:nvPr/>
          </p:nvSpPr>
          <p:spPr>
            <a:xfrm flipV="true">
              <a:off x="3274382" y="3591457"/>
              <a:ext cx="669951" cy="419071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3" id="123"/>
            <p:cNvSpPr/>
            <p:nvPr/>
          </p:nvSpPr>
          <p:spPr>
            <a:xfrm flipH="true" flipV="true">
              <a:off x="3944333" y="3591457"/>
              <a:ext cx="720127" cy="641441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3490253" y="3786405"/>
            <a:ext cx="4075503" cy="3509159"/>
            <a:chOff x="0" y="0"/>
            <a:chExt cx="5434005" cy="4678878"/>
          </a:xfrm>
        </p:grpSpPr>
        <p:grpSp>
          <p:nvGrpSpPr>
            <p:cNvPr name="Group 125" id="125"/>
            <p:cNvGrpSpPr/>
            <p:nvPr/>
          </p:nvGrpSpPr>
          <p:grpSpPr>
            <a:xfrm rot="0">
              <a:off x="0" y="0"/>
              <a:ext cx="5434005" cy="4678878"/>
              <a:chOff x="0" y="0"/>
              <a:chExt cx="2493032" cy="2146592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0" y="0"/>
                <a:ext cx="2493032" cy="2146592"/>
              </a:xfrm>
              <a:custGeom>
                <a:avLst/>
                <a:gdLst/>
                <a:ahLst/>
                <a:cxnLst/>
                <a:rect r="r" b="b" t="t" l="l"/>
                <a:pathLst>
                  <a:path h="2146592" w="2493032">
                    <a:moveTo>
                      <a:pt x="0" y="0"/>
                    </a:moveTo>
                    <a:lnTo>
                      <a:pt x="2493032" y="0"/>
                    </a:lnTo>
                    <a:lnTo>
                      <a:pt x="2493032" y="2146592"/>
                    </a:lnTo>
                    <a:lnTo>
                      <a:pt x="0" y="2146592"/>
                    </a:lnTo>
                    <a:close/>
                  </a:path>
                </a:pathLst>
              </a:custGeom>
              <a:solidFill>
                <a:srgbClr val="F8F8F8"/>
              </a:solidFill>
              <a:ln w="38100" cap="sq">
                <a:solidFill>
                  <a:srgbClr val="0F4662"/>
                </a:solidFill>
                <a:prstDash val="solid"/>
                <a:miter/>
              </a:ln>
            </p:spPr>
          </p:sp>
          <p:sp>
            <p:nvSpPr>
              <p:cNvPr name="TextBox 127" id="127"/>
              <p:cNvSpPr txBox="true"/>
              <p:nvPr/>
            </p:nvSpPr>
            <p:spPr>
              <a:xfrm>
                <a:off x="0" y="-123825"/>
                <a:ext cx="2493032" cy="22704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28" id="128"/>
            <p:cNvGrpSpPr/>
            <p:nvPr/>
          </p:nvGrpSpPr>
          <p:grpSpPr>
            <a:xfrm rot="0">
              <a:off x="3408628" y="475173"/>
              <a:ext cx="182190" cy="182190"/>
              <a:chOff x="0" y="0"/>
              <a:chExt cx="812800" cy="812800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30" id="130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31" id="131"/>
            <p:cNvGrpSpPr/>
            <p:nvPr/>
          </p:nvGrpSpPr>
          <p:grpSpPr>
            <a:xfrm rot="0">
              <a:off x="833350" y="1912933"/>
              <a:ext cx="182190" cy="182190"/>
              <a:chOff x="0" y="0"/>
              <a:chExt cx="812800" cy="812800"/>
            </a:xfrm>
          </p:grpSpPr>
          <p:sp>
            <p:nvSpPr>
              <p:cNvPr name="Freeform 132" id="1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33" id="13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34" id="134"/>
            <p:cNvGrpSpPr/>
            <p:nvPr/>
          </p:nvGrpSpPr>
          <p:grpSpPr>
            <a:xfrm rot="0">
              <a:off x="1545707" y="292983"/>
              <a:ext cx="182190" cy="182190"/>
              <a:chOff x="0" y="0"/>
              <a:chExt cx="812800" cy="812800"/>
            </a:xfrm>
          </p:grpSpPr>
          <p:sp>
            <p:nvSpPr>
              <p:cNvPr name="Freeform 135" id="1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36" id="136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37" id="137"/>
            <p:cNvGrpSpPr/>
            <p:nvPr/>
          </p:nvGrpSpPr>
          <p:grpSpPr>
            <a:xfrm rot="0">
              <a:off x="725851" y="3053890"/>
              <a:ext cx="182190" cy="182190"/>
              <a:chOff x="0" y="0"/>
              <a:chExt cx="812800" cy="812800"/>
            </a:xfrm>
          </p:grpSpPr>
          <p:sp>
            <p:nvSpPr>
              <p:cNvPr name="Freeform 138" id="1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39" id="13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40" id="140"/>
            <p:cNvGrpSpPr/>
            <p:nvPr/>
          </p:nvGrpSpPr>
          <p:grpSpPr>
            <a:xfrm rot="0">
              <a:off x="2274700" y="475173"/>
              <a:ext cx="182190" cy="182190"/>
              <a:chOff x="0" y="0"/>
              <a:chExt cx="812800" cy="812800"/>
            </a:xfrm>
          </p:grpSpPr>
          <p:sp>
            <p:nvSpPr>
              <p:cNvPr name="Freeform 141" id="1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42" id="14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43" id="143"/>
            <p:cNvGrpSpPr/>
            <p:nvPr/>
          </p:nvGrpSpPr>
          <p:grpSpPr>
            <a:xfrm rot="0">
              <a:off x="3061415" y="2058708"/>
              <a:ext cx="182190" cy="182190"/>
              <a:chOff x="0" y="0"/>
              <a:chExt cx="812800" cy="812800"/>
            </a:xfrm>
          </p:grpSpPr>
          <p:sp>
            <p:nvSpPr>
              <p:cNvPr name="Freeform 144" id="1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45" id="145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46" id="146"/>
            <p:cNvGrpSpPr/>
            <p:nvPr/>
          </p:nvGrpSpPr>
          <p:grpSpPr>
            <a:xfrm rot="0">
              <a:off x="4525661" y="1639647"/>
              <a:ext cx="182190" cy="182190"/>
              <a:chOff x="0" y="0"/>
              <a:chExt cx="812800" cy="812800"/>
            </a:xfrm>
          </p:grpSpPr>
          <p:sp>
            <p:nvSpPr>
              <p:cNvPr name="Freeform 147" id="1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48" id="148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49" id="149"/>
            <p:cNvGrpSpPr/>
            <p:nvPr/>
          </p:nvGrpSpPr>
          <p:grpSpPr>
            <a:xfrm rot="0">
              <a:off x="1545707" y="852251"/>
              <a:ext cx="182190" cy="182190"/>
              <a:chOff x="0" y="0"/>
              <a:chExt cx="812800" cy="812800"/>
            </a:xfrm>
          </p:grpSpPr>
          <p:sp>
            <p:nvSpPr>
              <p:cNvPr name="Freeform 150" id="1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51" id="151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52" id="152"/>
            <p:cNvGrpSpPr/>
            <p:nvPr/>
          </p:nvGrpSpPr>
          <p:grpSpPr>
            <a:xfrm rot="0">
              <a:off x="2001183" y="1730743"/>
              <a:ext cx="182190" cy="182190"/>
              <a:chOff x="0" y="0"/>
              <a:chExt cx="812800" cy="812800"/>
            </a:xfrm>
          </p:grpSpPr>
          <p:sp>
            <p:nvSpPr>
              <p:cNvPr name="Freeform 153" id="15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54" id="154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55" id="155"/>
            <p:cNvGrpSpPr/>
            <p:nvPr/>
          </p:nvGrpSpPr>
          <p:grpSpPr>
            <a:xfrm rot="0">
              <a:off x="534238" y="1388002"/>
              <a:ext cx="182190" cy="182190"/>
              <a:chOff x="0" y="0"/>
              <a:chExt cx="812800" cy="812800"/>
            </a:xfrm>
          </p:grpSpPr>
          <p:sp>
            <p:nvSpPr>
              <p:cNvPr name="Freeform 156" id="15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57" id="15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58" id="158"/>
            <p:cNvGrpSpPr/>
            <p:nvPr/>
          </p:nvGrpSpPr>
          <p:grpSpPr>
            <a:xfrm rot="0">
              <a:off x="1727897" y="3144985"/>
              <a:ext cx="182190" cy="182190"/>
              <a:chOff x="0" y="0"/>
              <a:chExt cx="812800" cy="812800"/>
            </a:xfrm>
          </p:grpSpPr>
          <p:sp>
            <p:nvSpPr>
              <p:cNvPr name="Freeform 159" id="15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60" id="160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61" id="161"/>
            <p:cNvGrpSpPr/>
            <p:nvPr/>
          </p:nvGrpSpPr>
          <p:grpSpPr>
            <a:xfrm rot="0">
              <a:off x="2183373" y="943346"/>
              <a:ext cx="182190" cy="182190"/>
              <a:chOff x="0" y="0"/>
              <a:chExt cx="812800" cy="812800"/>
            </a:xfrm>
          </p:grpSpPr>
          <p:sp>
            <p:nvSpPr>
              <p:cNvPr name="Freeform 162" id="16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63" id="16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64" id="164"/>
            <p:cNvGrpSpPr/>
            <p:nvPr/>
          </p:nvGrpSpPr>
          <p:grpSpPr>
            <a:xfrm rot="0">
              <a:off x="352047" y="384078"/>
              <a:ext cx="182190" cy="182190"/>
              <a:chOff x="0" y="0"/>
              <a:chExt cx="812800" cy="812800"/>
            </a:xfrm>
          </p:grpSpPr>
          <p:sp>
            <p:nvSpPr>
              <p:cNvPr name="Freeform 165" id="16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66" id="166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67" id="167"/>
            <p:cNvGrpSpPr/>
            <p:nvPr/>
          </p:nvGrpSpPr>
          <p:grpSpPr>
            <a:xfrm rot="0">
              <a:off x="4197831" y="2700329"/>
              <a:ext cx="182190" cy="182190"/>
              <a:chOff x="0" y="0"/>
              <a:chExt cx="812800" cy="812800"/>
            </a:xfrm>
          </p:grpSpPr>
          <p:sp>
            <p:nvSpPr>
              <p:cNvPr name="Freeform 168" id="16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69" id="16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70" id="170"/>
            <p:cNvGrpSpPr/>
            <p:nvPr/>
          </p:nvGrpSpPr>
          <p:grpSpPr>
            <a:xfrm rot="0">
              <a:off x="2274700" y="3979094"/>
              <a:ext cx="182190" cy="182190"/>
              <a:chOff x="0" y="0"/>
              <a:chExt cx="812800" cy="812800"/>
            </a:xfrm>
          </p:grpSpPr>
          <p:sp>
            <p:nvSpPr>
              <p:cNvPr name="Freeform 171" id="17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72" id="17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73" id="173"/>
            <p:cNvGrpSpPr/>
            <p:nvPr/>
          </p:nvGrpSpPr>
          <p:grpSpPr>
            <a:xfrm rot="0">
              <a:off x="1090231" y="3887998"/>
              <a:ext cx="182190" cy="182190"/>
              <a:chOff x="0" y="0"/>
              <a:chExt cx="812800" cy="812800"/>
            </a:xfrm>
          </p:grpSpPr>
          <p:sp>
            <p:nvSpPr>
              <p:cNvPr name="Freeform 174" id="17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75" id="175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76" id="176"/>
            <p:cNvGrpSpPr/>
            <p:nvPr/>
          </p:nvGrpSpPr>
          <p:grpSpPr>
            <a:xfrm rot="0">
              <a:off x="3754825" y="852251"/>
              <a:ext cx="182190" cy="182190"/>
              <a:chOff x="0" y="0"/>
              <a:chExt cx="812800" cy="812800"/>
            </a:xfrm>
          </p:grpSpPr>
          <p:sp>
            <p:nvSpPr>
              <p:cNvPr name="Freeform 177" id="17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78" id="178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79" id="179"/>
            <p:cNvGrpSpPr/>
            <p:nvPr/>
          </p:nvGrpSpPr>
          <p:grpSpPr>
            <a:xfrm rot="0">
              <a:off x="2974908" y="925081"/>
              <a:ext cx="182190" cy="182190"/>
              <a:chOff x="0" y="0"/>
              <a:chExt cx="812800" cy="812800"/>
            </a:xfrm>
          </p:grpSpPr>
          <p:sp>
            <p:nvSpPr>
              <p:cNvPr name="Freeform 180" id="18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81" id="181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82" id="182"/>
            <p:cNvGrpSpPr/>
            <p:nvPr/>
          </p:nvGrpSpPr>
          <p:grpSpPr>
            <a:xfrm rot="0">
              <a:off x="3845920" y="3531547"/>
              <a:ext cx="182190" cy="182190"/>
              <a:chOff x="0" y="0"/>
              <a:chExt cx="812800" cy="812800"/>
            </a:xfrm>
          </p:grpSpPr>
          <p:sp>
            <p:nvSpPr>
              <p:cNvPr name="Freeform 183" id="18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84" id="184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85" id="185"/>
            <p:cNvGrpSpPr/>
            <p:nvPr/>
          </p:nvGrpSpPr>
          <p:grpSpPr>
            <a:xfrm rot="0">
              <a:off x="4434566" y="943346"/>
              <a:ext cx="182190" cy="182190"/>
              <a:chOff x="0" y="0"/>
              <a:chExt cx="812800" cy="812800"/>
            </a:xfrm>
          </p:grpSpPr>
          <p:sp>
            <p:nvSpPr>
              <p:cNvPr name="Freeform 186" id="18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87" id="18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88" id="188"/>
            <p:cNvGrpSpPr/>
            <p:nvPr/>
          </p:nvGrpSpPr>
          <p:grpSpPr>
            <a:xfrm rot="0">
              <a:off x="4525661" y="4161284"/>
              <a:ext cx="182190" cy="182190"/>
              <a:chOff x="0" y="0"/>
              <a:chExt cx="812800" cy="812800"/>
            </a:xfrm>
          </p:grpSpPr>
          <p:sp>
            <p:nvSpPr>
              <p:cNvPr name="Freeform 189" id="18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90" id="190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91" id="191"/>
            <p:cNvGrpSpPr/>
            <p:nvPr/>
          </p:nvGrpSpPr>
          <p:grpSpPr>
            <a:xfrm rot="0">
              <a:off x="3157099" y="3887998"/>
              <a:ext cx="182190" cy="182190"/>
              <a:chOff x="0" y="0"/>
              <a:chExt cx="812800" cy="812800"/>
            </a:xfrm>
          </p:grpSpPr>
          <p:sp>
            <p:nvSpPr>
              <p:cNvPr name="Freeform 192" id="19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93" id="19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</p:grpSp>
      <p:sp>
        <p:nvSpPr>
          <p:cNvPr name="AutoShape 194" id="194"/>
          <p:cNvSpPr/>
          <p:nvPr/>
        </p:nvSpPr>
        <p:spPr>
          <a:xfrm>
            <a:off x="7852295" y="5488597"/>
            <a:ext cx="1882932" cy="0"/>
          </a:xfrm>
          <a:prstGeom prst="line">
            <a:avLst/>
          </a:prstGeom>
          <a:ln cap="flat" w="104775">
            <a:solidFill>
              <a:srgbClr val="0F4662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359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44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70915" y="2587846"/>
            <a:ext cx="5000560" cy="4945609"/>
          </a:xfrm>
          <a:custGeom>
            <a:avLst/>
            <a:gdLst/>
            <a:ahLst/>
            <a:cxnLst/>
            <a:rect r="r" b="b" t="t" l="l"/>
            <a:pathLst>
              <a:path h="4945609" w="5000560">
                <a:moveTo>
                  <a:pt x="0" y="0"/>
                </a:moveTo>
                <a:lnTo>
                  <a:pt x="5000560" y="0"/>
                </a:lnTo>
                <a:lnTo>
                  <a:pt x="5000560" y="4945609"/>
                </a:lnTo>
                <a:lnTo>
                  <a:pt x="0" y="4945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40964" y="373063"/>
            <a:ext cx="13878672" cy="114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9"/>
              </a:lnSpc>
              <a:spcBef>
                <a:spcPct val="0"/>
              </a:spcBef>
            </a:pPr>
            <a:r>
              <a:rPr lang="en-US" b="true" sz="56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1186" y="2784487"/>
            <a:ext cx="7338114" cy="2359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61"/>
              </a:lnSpc>
              <a:spcBef>
                <a:spcPct val="0"/>
              </a:spcBef>
            </a:pPr>
            <a:r>
              <a:rPr lang="en-US" sz="3742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Reconstructing a 3D face model from keypoints in a facial recognition system.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921186" y="5444141"/>
            <a:ext cx="6305918" cy="4335481"/>
          </a:xfrm>
          <a:custGeom>
            <a:avLst/>
            <a:gdLst/>
            <a:ahLst/>
            <a:cxnLst/>
            <a:rect r="r" b="b" t="t" l="l"/>
            <a:pathLst>
              <a:path h="4335481" w="6305918">
                <a:moveTo>
                  <a:pt x="0" y="0"/>
                </a:moveTo>
                <a:lnTo>
                  <a:pt x="6305918" y="0"/>
                </a:lnTo>
                <a:lnTo>
                  <a:pt x="6305918" y="4335482"/>
                </a:lnTo>
                <a:lnTo>
                  <a:pt x="0" y="4335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1" t="0" r="-551" b="-3488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359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44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8201" y="3258803"/>
            <a:ext cx="8213306" cy="4669526"/>
          </a:xfrm>
          <a:custGeom>
            <a:avLst/>
            <a:gdLst/>
            <a:ahLst/>
            <a:cxnLst/>
            <a:rect r="r" b="b" t="t" l="l"/>
            <a:pathLst>
              <a:path h="4669526" w="8213306">
                <a:moveTo>
                  <a:pt x="0" y="0"/>
                </a:moveTo>
                <a:lnTo>
                  <a:pt x="8213306" y="0"/>
                </a:lnTo>
                <a:lnTo>
                  <a:pt x="8213306" y="4669526"/>
                </a:lnTo>
                <a:lnTo>
                  <a:pt x="0" y="4669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95" r="-2735" b="-560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03997" y="5143500"/>
            <a:ext cx="6569969" cy="4376110"/>
          </a:xfrm>
          <a:custGeom>
            <a:avLst/>
            <a:gdLst/>
            <a:ahLst/>
            <a:cxnLst/>
            <a:rect r="r" b="b" t="t" l="l"/>
            <a:pathLst>
              <a:path h="4376110" w="6569969">
                <a:moveTo>
                  <a:pt x="0" y="0"/>
                </a:moveTo>
                <a:lnTo>
                  <a:pt x="6569969" y="0"/>
                </a:lnTo>
                <a:lnTo>
                  <a:pt x="6569969" y="4376110"/>
                </a:lnTo>
                <a:lnTo>
                  <a:pt x="0" y="4376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40964" y="373063"/>
            <a:ext cx="13878672" cy="114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9"/>
              </a:lnSpc>
              <a:spcBef>
                <a:spcPct val="0"/>
              </a:spcBef>
            </a:pPr>
            <a:r>
              <a:rPr lang="en-US" b="true" sz="56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03997" y="3702195"/>
            <a:ext cx="7338114" cy="75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61"/>
              </a:lnSpc>
              <a:spcBef>
                <a:spcPct val="0"/>
              </a:spcBef>
            </a:pPr>
            <a:r>
              <a:rPr lang="en-US" sz="3742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Air-Craft Designing...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359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44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52748" y="2493227"/>
            <a:ext cx="8527552" cy="5685035"/>
          </a:xfrm>
          <a:custGeom>
            <a:avLst/>
            <a:gdLst/>
            <a:ahLst/>
            <a:cxnLst/>
            <a:rect r="r" b="b" t="t" l="l"/>
            <a:pathLst>
              <a:path h="5685035" w="8527552">
                <a:moveTo>
                  <a:pt x="0" y="0"/>
                </a:moveTo>
                <a:lnTo>
                  <a:pt x="8527552" y="0"/>
                </a:lnTo>
                <a:lnTo>
                  <a:pt x="8527552" y="5685035"/>
                </a:lnTo>
                <a:lnTo>
                  <a:pt x="0" y="5685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40964" y="373063"/>
            <a:ext cx="13878672" cy="114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9"/>
              </a:lnSpc>
              <a:spcBef>
                <a:spcPct val="0"/>
              </a:spcBef>
            </a:pPr>
            <a:r>
              <a:rPr lang="en-US" b="true" sz="56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93150" y="2321777"/>
            <a:ext cx="7766150" cy="3890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6"/>
              </a:lnSpc>
              <a:spcBef>
                <a:spcPct val="0"/>
              </a:spcBef>
            </a:pPr>
            <a:r>
              <a:rPr lang="en-US" sz="3674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Satellite image taken by NASA, representing the key features of geometry, reducing the space by compressing it with geometrical points for less data storage.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359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44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8729" y="2472932"/>
            <a:ext cx="8022603" cy="5341135"/>
          </a:xfrm>
          <a:custGeom>
            <a:avLst/>
            <a:gdLst/>
            <a:ahLst/>
            <a:cxnLst/>
            <a:rect r="r" b="b" t="t" l="l"/>
            <a:pathLst>
              <a:path h="5341135" w="8022603">
                <a:moveTo>
                  <a:pt x="0" y="0"/>
                </a:moveTo>
                <a:lnTo>
                  <a:pt x="8022603" y="0"/>
                </a:lnTo>
                <a:lnTo>
                  <a:pt x="8022603" y="5341136"/>
                </a:lnTo>
                <a:lnTo>
                  <a:pt x="0" y="534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40964" y="373063"/>
            <a:ext cx="13878672" cy="114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9"/>
              </a:lnSpc>
              <a:spcBef>
                <a:spcPct val="0"/>
              </a:spcBef>
            </a:pPr>
            <a:r>
              <a:rPr lang="en-US" b="true" sz="56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82110" y="2301482"/>
            <a:ext cx="7216303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20"/>
              </a:lnSpc>
              <a:spcBef>
                <a:spcPct val="0"/>
              </a:spcBef>
            </a:pPr>
            <a:r>
              <a:rPr lang="en-US" sz="36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NASA’s Terra satellite captured this image of Baytown, Texas, in October, 2003.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359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44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4364429"/>
            <a:ext cx="10671970" cy="4206352"/>
          </a:xfrm>
          <a:custGeom>
            <a:avLst/>
            <a:gdLst/>
            <a:ahLst/>
            <a:cxnLst/>
            <a:rect r="r" b="b" t="t" l="l"/>
            <a:pathLst>
              <a:path h="4206352" w="10671970">
                <a:moveTo>
                  <a:pt x="0" y="0"/>
                </a:moveTo>
                <a:lnTo>
                  <a:pt x="10671970" y="0"/>
                </a:lnTo>
                <a:lnTo>
                  <a:pt x="10671970" y="4206352"/>
                </a:lnTo>
                <a:lnTo>
                  <a:pt x="0" y="4206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80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40964" y="373063"/>
            <a:ext cx="13878672" cy="114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9"/>
              </a:lnSpc>
              <a:spcBef>
                <a:spcPct val="0"/>
              </a:spcBef>
            </a:pPr>
            <a:r>
              <a:rPr lang="en-US" b="true" sz="56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5000" y="2111550"/>
            <a:ext cx="16358000" cy="148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20"/>
              </a:lnSpc>
              <a:spcBef>
                <a:spcPct val="0"/>
              </a:spcBef>
            </a:pPr>
            <a:r>
              <a:rPr lang="en-US" sz="36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Terrain modeling involves discretizing a geometric domain into simpler elements (e.g., triangles) for numerical simulations.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359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44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40964" y="373063"/>
            <a:ext cx="13878672" cy="1143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89"/>
              </a:lnSpc>
              <a:spcBef>
                <a:spcPct val="0"/>
              </a:spcBef>
            </a:pPr>
            <a:r>
              <a:rPr lang="en-US" b="true" sz="56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3986" y="2165488"/>
            <a:ext cx="16892629" cy="380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20"/>
              </a:lnSpc>
              <a:spcBef>
                <a:spcPct val="0"/>
              </a:spcBef>
            </a:pPr>
            <a:r>
              <a:rPr lang="en-US" sz="36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Minimum Weight Triangulation (MWT) problem aims to connect a set of</a:t>
            </a:r>
            <a:r>
              <a:rPr lang="en-US" sz="36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n points in the plane with non-overlapping edges to form a valid triangulation, such that the total length of all edges used in the triangulation is minimized,</a:t>
            </a:r>
          </a:p>
          <a:p>
            <a:pPr algn="just">
              <a:lnSpc>
                <a:spcPts val="6120"/>
              </a:lnSpc>
              <a:spcBef>
                <a:spcPct val="0"/>
              </a:spcBef>
            </a:pPr>
            <a:r>
              <a:rPr lang="en-US" sz="36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given constraint that the triangulation must cover all points with a set of triangles.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136393" y="6423163"/>
            <a:ext cx="4075503" cy="3509159"/>
            <a:chOff x="0" y="0"/>
            <a:chExt cx="5434005" cy="467887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5434005" cy="4678878"/>
              <a:chOff x="0" y="0"/>
              <a:chExt cx="2493032" cy="214659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493032" cy="2146592"/>
              </a:xfrm>
              <a:custGeom>
                <a:avLst/>
                <a:gdLst/>
                <a:ahLst/>
                <a:cxnLst/>
                <a:rect r="r" b="b" t="t" l="l"/>
                <a:pathLst>
                  <a:path h="2146592" w="2493032">
                    <a:moveTo>
                      <a:pt x="0" y="0"/>
                    </a:moveTo>
                    <a:lnTo>
                      <a:pt x="2493032" y="0"/>
                    </a:lnTo>
                    <a:lnTo>
                      <a:pt x="2493032" y="2146592"/>
                    </a:lnTo>
                    <a:lnTo>
                      <a:pt x="0" y="2146592"/>
                    </a:lnTo>
                    <a:close/>
                  </a:path>
                </a:pathLst>
              </a:custGeom>
              <a:solidFill>
                <a:srgbClr val="F8F8F8"/>
              </a:solidFill>
              <a:ln w="38100" cap="sq">
                <a:solidFill>
                  <a:srgbClr val="0F4662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23825"/>
                <a:ext cx="2493032" cy="22704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408628" y="475173"/>
              <a:ext cx="182190" cy="18219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833350" y="1912933"/>
              <a:ext cx="182190" cy="18219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545707" y="292983"/>
              <a:ext cx="182190" cy="182190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725851" y="3053890"/>
              <a:ext cx="182190" cy="182190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2274700" y="475173"/>
              <a:ext cx="182190" cy="182190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3061415" y="2058708"/>
              <a:ext cx="182190" cy="182190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4525661" y="1639647"/>
              <a:ext cx="182190" cy="182190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545707" y="852251"/>
              <a:ext cx="182190" cy="182190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2001183" y="1730743"/>
              <a:ext cx="182190" cy="182190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534238" y="1388002"/>
              <a:ext cx="182190" cy="182190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727897" y="3144985"/>
              <a:ext cx="182190" cy="182190"/>
              <a:chOff x="0" y="0"/>
              <a:chExt cx="812800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183373" y="943346"/>
              <a:ext cx="182190" cy="182190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352047" y="384078"/>
              <a:ext cx="182190" cy="182190"/>
              <a:chOff x="0" y="0"/>
              <a:chExt cx="812800" cy="8128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4197831" y="2700329"/>
              <a:ext cx="182190" cy="182190"/>
              <a:chOff x="0" y="0"/>
              <a:chExt cx="812800" cy="8128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2274700" y="3979094"/>
              <a:ext cx="182190" cy="182190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1090231" y="3887998"/>
              <a:ext cx="182190" cy="182190"/>
              <a:chOff x="0" y="0"/>
              <a:chExt cx="812800" cy="8128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3754825" y="852251"/>
              <a:ext cx="182190" cy="182190"/>
              <a:chOff x="0" y="0"/>
              <a:chExt cx="812800" cy="8128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2974908" y="925081"/>
              <a:ext cx="182190" cy="182190"/>
              <a:chOff x="0" y="0"/>
              <a:chExt cx="812800" cy="8128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3845920" y="3531547"/>
              <a:ext cx="182190" cy="182190"/>
              <a:chOff x="0" y="0"/>
              <a:chExt cx="812800" cy="8128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4434566" y="943346"/>
              <a:ext cx="182190" cy="182190"/>
              <a:chOff x="0" y="0"/>
              <a:chExt cx="812800" cy="8128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4525661" y="4161284"/>
              <a:ext cx="182190" cy="182190"/>
              <a:chOff x="0" y="0"/>
              <a:chExt cx="812800" cy="8128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3157099" y="3887998"/>
              <a:ext cx="182190" cy="182190"/>
              <a:chOff x="0" y="0"/>
              <a:chExt cx="812800" cy="81280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80"/>
                  </a:lnSpc>
                </a:pPr>
              </a:p>
            </p:txBody>
          </p:sp>
        </p:grpSp>
        <p:sp>
          <p:nvSpPr>
            <p:cNvPr name="AutoShape 77" id="77"/>
            <p:cNvSpPr/>
            <p:nvPr/>
          </p:nvSpPr>
          <p:spPr>
            <a:xfrm>
              <a:off x="452445" y="459266"/>
              <a:ext cx="159173" cy="992495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8" id="78"/>
            <p:cNvSpPr/>
            <p:nvPr/>
          </p:nvSpPr>
          <p:spPr>
            <a:xfrm flipH="true">
              <a:off x="452445" y="308133"/>
              <a:ext cx="1199813" cy="151132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9" id="79"/>
            <p:cNvSpPr/>
            <p:nvPr/>
          </p:nvSpPr>
          <p:spPr>
            <a:xfrm>
              <a:off x="1652259" y="308133"/>
              <a:ext cx="0" cy="610827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0" id="80"/>
            <p:cNvSpPr/>
            <p:nvPr/>
          </p:nvSpPr>
          <p:spPr>
            <a:xfrm flipH="true" flipV="true">
              <a:off x="1652259" y="308133"/>
              <a:ext cx="696559" cy="276715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1" id="81"/>
            <p:cNvSpPr/>
            <p:nvPr/>
          </p:nvSpPr>
          <p:spPr>
            <a:xfrm flipH="true" flipV="true">
              <a:off x="452445" y="459266"/>
              <a:ext cx="1199813" cy="459694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2" id="82"/>
            <p:cNvSpPr/>
            <p:nvPr/>
          </p:nvSpPr>
          <p:spPr>
            <a:xfrm flipH="true">
              <a:off x="1652259" y="584848"/>
              <a:ext cx="782436" cy="334111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3" id="83"/>
            <p:cNvSpPr/>
            <p:nvPr/>
          </p:nvSpPr>
          <p:spPr>
            <a:xfrm>
              <a:off x="2348817" y="584848"/>
              <a:ext cx="1141989" cy="0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4" id="84"/>
            <p:cNvSpPr/>
            <p:nvPr/>
          </p:nvSpPr>
          <p:spPr>
            <a:xfrm>
              <a:off x="3490806" y="584848"/>
              <a:ext cx="286257" cy="334111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5" id="85"/>
            <p:cNvSpPr/>
            <p:nvPr/>
          </p:nvSpPr>
          <p:spPr>
            <a:xfrm>
              <a:off x="3777063" y="918960"/>
              <a:ext cx="753810" cy="85877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6" id="86"/>
            <p:cNvSpPr/>
            <p:nvPr/>
          </p:nvSpPr>
          <p:spPr>
            <a:xfrm>
              <a:off x="4530874" y="1004837"/>
              <a:ext cx="133587" cy="715635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7" id="87"/>
            <p:cNvSpPr/>
            <p:nvPr/>
          </p:nvSpPr>
          <p:spPr>
            <a:xfrm flipH="true">
              <a:off x="4254158" y="1720472"/>
              <a:ext cx="410302" cy="1116402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8" id="88"/>
            <p:cNvSpPr/>
            <p:nvPr/>
          </p:nvSpPr>
          <p:spPr>
            <a:xfrm>
              <a:off x="4254158" y="2836874"/>
              <a:ext cx="410302" cy="1396024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9" id="89"/>
            <p:cNvSpPr/>
            <p:nvPr/>
          </p:nvSpPr>
          <p:spPr>
            <a:xfrm flipH="true" flipV="true">
              <a:off x="3274382" y="4010528"/>
              <a:ext cx="1390078" cy="222370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0" id="90"/>
            <p:cNvSpPr/>
            <p:nvPr/>
          </p:nvSpPr>
          <p:spPr>
            <a:xfrm flipH="true">
              <a:off x="2348817" y="4010528"/>
              <a:ext cx="925564" cy="85877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1" id="91"/>
            <p:cNvSpPr/>
            <p:nvPr/>
          </p:nvSpPr>
          <p:spPr>
            <a:xfrm flipH="true" flipV="true">
              <a:off x="1189190" y="4010528"/>
              <a:ext cx="1159628" cy="85877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2" id="92"/>
            <p:cNvSpPr/>
            <p:nvPr/>
          </p:nvSpPr>
          <p:spPr>
            <a:xfrm flipH="true" flipV="true">
              <a:off x="788430" y="3150847"/>
              <a:ext cx="400760" cy="859681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3" id="93"/>
            <p:cNvSpPr/>
            <p:nvPr/>
          </p:nvSpPr>
          <p:spPr>
            <a:xfrm flipV="true">
              <a:off x="788430" y="2005819"/>
              <a:ext cx="104961" cy="1145028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4" id="94"/>
            <p:cNvSpPr/>
            <p:nvPr/>
          </p:nvSpPr>
          <p:spPr>
            <a:xfrm flipH="true" flipV="true">
              <a:off x="611618" y="1451761"/>
              <a:ext cx="281773" cy="554058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5" id="95"/>
            <p:cNvSpPr/>
            <p:nvPr/>
          </p:nvSpPr>
          <p:spPr>
            <a:xfrm>
              <a:off x="1652259" y="918960"/>
              <a:ext cx="610682" cy="85877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6" id="96"/>
            <p:cNvSpPr/>
            <p:nvPr/>
          </p:nvSpPr>
          <p:spPr>
            <a:xfrm flipV="true">
              <a:off x="2262940" y="584848"/>
              <a:ext cx="85877" cy="419989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7" id="97"/>
            <p:cNvSpPr/>
            <p:nvPr/>
          </p:nvSpPr>
          <p:spPr>
            <a:xfrm flipV="true">
              <a:off x="611618" y="1004837"/>
              <a:ext cx="1040640" cy="446924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8" id="98"/>
            <p:cNvSpPr/>
            <p:nvPr/>
          </p:nvSpPr>
          <p:spPr>
            <a:xfrm flipH="true" flipV="true">
              <a:off x="2348817" y="584848"/>
              <a:ext cx="727203" cy="419989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9" id="99"/>
            <p:cNvSpPr/>
            <p:nvPr/>
          </p:nvSpPr>
          <p:spPr>
            <a:xfrm flipV="true">
              <a:off x="3076020" y="584848"/>
              <a:ext cx="414786" cy="419989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0" id="100"/>
            <p:cNvSpPr/>
            <p:nvPr/>
          </p:nvSpPr>
          <p:spPr>
            <a:xfrm flipH="true">
              <a:off x="2262940" y="1004837"/>
              <a:ext cx="813080" cy="0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1" id="101"/>
            <p:cNvSpPr/>
            <p:nvPr/>
          </p:nvSpPr>
          <p:spPr>
            <a:xfrm flipH="true">
              <a:off x="3076020" y="918960"/>
              <a:ext cx="701043" cy="85877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2" id="102"/>
            <p:cNvSpPr/>
            <p:nvPr/>
          </p:nvSpPr>
          <p:spPr>
            <a:xfrm flipH="true" flipV="true">
              <a:off x="3860922" y="1004837"/>
              <a:ext cx="803538" cy="715635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3" id="103"/>
            <p:cNvSpPr/>
            <p:nvPr/>
          </p:nvSpPr>
          <p:spPr>
            <a:xfrm flipH="true">
              <a:off x="2124296" y="1101021"/>
              <a:ext cx="138644" cy="713960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4" id="104"/>
            <p:cNvSpPr/>
            <p:nvPr/>
          </p:nvSpPr>
          <p:spPr>
            <a:xfrm flipH="true" flipV="true">
              <a:off x="1652259" y="1004837"/>
              <a:ext cx="472038" cy="810144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5" id="105"/>
            <p:cNvSpPr/>
            <p:nvPr/>
          </p:nvSpPr>
          <p:spPr>
            <a:xfrm flipH="true">
              <a:off x="893391" y="1814981"/>
              <a:ext cx="1230905" cy="190838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6" id="106"/>
            <p:cNvSpPr/>
            <p:nvPr/>
          </p:nvSpPr>
          <p:spPr>
            <a:xfrm flipV="true">
              <a:off x="893391" y="1004837"/>
              <a:ext cx="758868" cy="1000982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7" id="107"/>
            <p:cNvSpPr/>
            <p:nvPr/>
          </p:nvSpPr>
          <p:spPr>
            <a:xfrm flipH="true">
              <a:off x="1838294" y="1892999"/>
              <a:ext cx="286002" cy="1257848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8" id="108"/>
            <p:cNvSpPr/>
            <p:nvPr/>
          </p:nvSpPr>
          <p:spPr>
            <a:xfrm flipH="true">
              <a:off x="2124296" y="1004837"/>
              <a:ext cx="951724" cy="810144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9" id="109"/>
            <p:cNvSpPr/>
            <p:nvPr/>
          </p:nvSpPr>
          <p:spPr>
            <a:xfrm flipH="true" flipV="true">
              <a:off x="2124296" y="1892999"/>
              <a:ext cx="1056685" cy="305341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0" id="110"/>
            <p:cNvSpPr/>
            <p:nvPr/>
          </p:nvSpPr>
          <p:spPr>
            <a:xfrm flipH="true" flipV="true">
              <a:off x="3076020" y="1004837"/>
              <a:ext cx="104961" cy="1193503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1" id="111"/>
            <p:cNvSpPr/>
            <p:nvPr/>
          </p:nvSpPr>
          <p:spPr>
            <a:xfrm flipH="true">
              <a:off x="1838294" y="2198340"/>
              <a:ext cx="1342687" cy="1067010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2" id="112"/>
            <p:cNvSpPr/>
            <p:nvPr/>
          </p:nvSpPr>
          <p:spPr>
            <a:xfrm flipH="true" flipV="true">
              <a:off x="969726" y="2005819"/>
              <a:ext cx="868568" cy="1259531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3" id="113"/>
            <p:cNvSpPr/>
            <p:nvPr/>
          </p:nvSpPr>
          <p:spPr>
            <a:xfrm flipH="true" flipV="true">
              <a:off x="893391" y="3150847"/>
              <a:ext cx="944903" cy="114503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4" id="114"/>
            <p:cNvSpPr/>
            <p:nvPr/>
          </p:nvSpPr>
          <p:spPr>
            <a:xfrm flipH="true" flipV="true">
              <a:off x="1838294" y="3265350"/>
              <a:ext cx="510524" cy="831056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5" id="115"/>
            <p:cNvSpPr/>
            <p:nvPr/>
          </p:nvSpPr>
          <p:spPr>
            <a:xfrm flipV="true">
              <a:off x="1189190" y="3265350"/>
              <a:ext cx="649104" cy="650532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6" id="116"/>
            <p:cNvSpPr/>
            <p:nvPr/>
          </p:nvSpPr>
          <p:spPr>
            <a:xfrm flipH="true" flipV="true">
              <a:off x="3180981" y="2198340"/>
              <a:ext cx="93401" cy="1812189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7" id="117"/>
            <p:cNvSpPr/>
            <p:nvPr/>
          </p:nvSpPr>
          <p:spPr>
            <a:xfrm flipH="true" flipV="true">
              <a:off x="1838294" y="3265350"/>
              <a:ext cx="1436088" cy="650532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8" id="118"/>
            <p:cNvSpPr/>
            <p:nvPr/>
          </p:nvSpPr>
          <p:spPr>
            <a:xfrm flipH="true">
              <a:off x="3180981" y="1720472"/>
              <a:ext cx="1349893" cy="477868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9" id="119"/>
            <p:cNvSpPr/>
            <p:nvPr/>
          </p:nvSpPr>
          <p:spPr>
            <a:xfrm flipV="true">
              <a:off x="3180981" y="918960"/>
              <a:ext cx="679941" cy="1279380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0" id="120"/>
            <p:cNvSpPr/>
            <p:nvPr/>
          </p:nvSpPr>
          <p:spPr>
            <a:xfrm flipH="true" flipV="true">
              <a:off x="3180981" y="2198340"/>
              <a:ext cx="1073177" cy="638535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1" id="121"/>
            <p:cNvSpPr/>
            <p:nvPr/>
          </p:nvSpPr>
          <p:spPr>
            <a:xfrm flipH="true" flipV="true">
              <a:off x="3180981" y="2198340"/>
              <a:ext cx="763352" cy="1393118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2" id="122"/>
            <p:cNvSpPr/>
            <p:nvPr/>
          </p:nvSpPr>
          <p:spPr>
            <a:xfrm flipV="true">
              <a:off x="3944333" y="2836874"/>
              <a:ext cx="309825" cy="754583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3" id="123"/>
            <p:cNvSpPr/>
            <p:nvPr/>
          </p:nvSpPr>
          <p:spPr>
            <a:xfrm flipV="true">
              <a:off x="3274382" y="3591457"/>
              <a:ext cx="669951" cy="419071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4" id="124"/>
            <p:cNvSpPr/>
            <p:nvPr/>
          </p:nvSpPr>
          <p:spPr>
            <a:xfrm flipH="true" flipV="true">
              <a:off x="3944333" y="3591457"/>
              <a:ext cx="720127" cy="641441"/>
            </a:xfrm>
            <a:prstGeom prst="line">
              <a:avLst/>
            </a:prstGeom>
            <a:ln cap="flat" w="21872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3898765" y="6423163"/>
            <a:ext cx="4075503" cy="3509159"/>
            <a:chOff x="0" y="0"/>
            <a:chExt cx="5434005" cy="4678878"/>
          </a:xfrm>
        </p:grpSpPr>
        <p:grpSp>
          <p:nvGrpSpPr>
            <p:cNvPr name="Group 126" id="126"/>
            <p:cNvGrpSpPr/>
            <p:nvPr/>
          </p:nvGrpSpPr>
          <p:grpSpPr>
            <a:xfrm rot="0">
              <a:off x="0" y="0"/>
              <a:ext cx="5434005" cy="4678878"/>
              <a:chOff x="0" y="0"/>
              <a:chExt cx="2493032" cy="2146592"/>
            </a:xfrm>
          </p:grpSpPr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2493032" cy="2146592"/>
              </a:xfrm>
              <a:custGeom>
                <a:avLst/>
                <a:gdLst/>
                <a:ahLst/>
                <a:cxnLst/>
                <a:rect r="r" b="b" t="t" l="l"/>
                <a:pathLst>
                  <a:path h="2146592" w="2493032">
                    <a:moveTo>
                      <a:pt x="0" y="0"/>
                    </a:moveTo>
                    <a:lnTo>
                      <a:pt x="2493032" y="0"/>
                    </a:lnTo>
                    <a:lnTo>
                      <a:pt x="2493032" y="2146592"/>
                    </a:lnTo>
                    <a:lnTo>
                      <a:pt x="0" y="2146592"/>
                    </a:lnTo>
                    <a:close/>
                  </a:path>
                </a:pathLst>
              </a:custGeom>
              <a:solidFill>
                <a:srgbClr val="F8F8F8"/>
              </a:solidFill>
              <a:ln w="38100" cap="sq">
                <a:solidFill>
                  <a:srgbClr val="0F4662"/>
                </a:solidFill>
                <a:prstDash val="solid"/>
                <a:miter/>
              </a:ln>
            </p:spPr>
          </p:sp>
          <p:sp>
            <p:nvSpPr>
              <p:cNvPr name="TextBox 128" id="128"/>
              <p:cNvSpPr txBox="true"/>
              <p:nvPr/>
            </p:nvSpPr>
            <p:spPr>
              <a:xfrm>
                <a:off x="0" y="-123825"/>
                <a:ext cx="2493032" cy="22704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29" id="129"/>
            <p:cNvGrpSpPr/>
            <p:nvPr/>
          </p:nvGrpSpPr>
          <p:grpSpPr>
            <a:xfrm rot="0">
              <a:off x="3408628" y="475173"/>
              <a:ext cx="182190" cy="182190"/>
              <a:chOff x="0" y="0"/>
              <a:chExt cx="812800" cy="812800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31" id="131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32" id="132"/>
            <p:cNvGrpSpPr/>
            <p:nvPr/>
          </p:nvGrpSpPr>
          <p:grpSpPr>
            <a:xfrm rot="0">
              <a:off x="833350" y="1912933"/>
              <a:ext cx="182190" cy="182190"/>
              <a:chOff x="0" y="0"/>
              <a:chExt cx="812800" cy="812800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35" id="135"/>
            <p:cNvGrpSpPr/>
            <p:nvPr/>
          </p:nvGrpSpPr>
          <p:grpSpPr>
            <a:xfrm rot="0">
              <a:off x="1545707" y="292983"/>
              <a:ext cx="182190" cy="182190"/>
              <a:chOff x="0" y="0"/>
              <a:chExt cx="812800" cy="812800"/>
            </a:xfrm>
          </p:grpSpPr>
          <p:sp>
            <p:nvSpPr>
              <p:cNvPr name="Freeform 136" id="1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37" id="13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38" id="138"/>
            <p:cNvGrpSpPr/>
            <p:nvPr/>
          </p:nvGrpSpPr>
          <p:grpSpPr>
            <a:xfrm rot="0">
              <a:off x="725851" y="3053890"/>
              <a:ext cx="182190" cy="182190"/>
              <a:chOff x="0" y="0"/>
              <a:chExt cx="812800" cy="812800"/>
            </a:xfrm>
          </p:grpSpPr>
          <p:sp>
            <p:nvSpPr>
              <p:cNvPr name="Freeform 139" id="1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40" id="140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41" id="141"/>
            <p:cNvGrpSpPr/>
            <p:nvPr/>
          </p:nvGrpSpPr>
          <p:grpSpPr>
            <a:xfrm rot="0">
              <a:off x="2274700" y="475173"/>
              <a:ext cx="182190" cy="182190"/>
              <a:chOff x="0" y="0"/>
              <a:chExt cx="812800" cy="812800"/>
            </a:xfrm>
          </p:grpSpPr>
          <p:sp>
            <p:nvSpPr>
              <p:cNvPr name="Freeform 142" id="14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43" id="14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44" id="144"/>
            <p:cNvGrpSpPr/>
            <p:nvPr/>
          </p:nvGrpSpPr>
          <p:grpSpPr>
            <a:xfrm rot="0">
              <a:off x="3061415" y="2058708"/>
              <a:ext cx="182190" cy="182190"/>
              <a:chOff x="0" y="0"/>
              <a:chExt cx="812800" cy="812800"/>
            </a:xfrm>
          </p:grpSpPr>
          <p:sp>
            <p:nvSpPr>
              <p:cNvPr name="Freeform 145" id="1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46" id="146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47" id="147"/>
            <p:cNvGrpSpPr/>
            <p:nvPr/>
          </p:nvGrpSpPr>
          <p:grpSpPr>
            <a:xfrm rot="0">
              <a:off x="4525661" y="1639647"/>
              <a:ext cx="182190" cy="182190"/>
              <a:chOff x="0" y="0"/>
              <a:chExt cx="812800" cy="812800"/>
            </a:xfrm>
          </p:grpSpPr>
          <p:sp>
            <p:nvSpPr>
              <p:cNvPr name="Freeform 148" id="14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49" id="14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50" id="150"/>
            <p:cNvGrpSpPr/>
            <p:nvPr/>
          </p:nvGrpSpPr>
          <p:grpSpPr>
            <a:xfrm rot="0">
              <a:off x="1545707" y="852251"/>
              <a:ext cx="182190" cy="182190"/>
              <a:chOff x="0" y="0"/>
              <a:chExt cx="812800" cy="812800"/>
            </a:xfrm>
          </p:grpSpPr>
          <p:sp>
            <p:nvSpPr>
              <p:cNvPr name="Freeform 151" id="15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52" id="15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53" id="153"/>
            <p:cNvGrpSpPr/>
            <p:nvPr/>
          </p:nvGrpSpPr>
          <p:grpSpPr>
            <a:xfrm rot="0">
              <a:off x="2001183" y="1730743"/>
              <a:ext cx="182190" cy="182190"/>
              <a:chOff x="0" y="0"/>
              <a:chExt cx="812800" cy="812800"/>
            </a:xfrm>
          </p:grpSpPr>
          <p:sp>
            <p:nvSpPr>
              <p:cNvPr name="Freeform 154" id="1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55" id="155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56" id="156"/>
            <p:cNvGrpSpPr/>
            <p:nvPr/>
          </p:nvGrpSpPr>
          <p:grpSpPr>
            <a:xfrm rot="0">
              <a:off x="534238" y="1388002"/>
              <a:ext cx="182190" cy="182190"/>
              <a:chOff x="0" y="0"/>
              <a:chExt cx="812800" cy="812800"/>
            </a:xfrm>
          </p:grpSpPr>
          <p:sp>
            <p:nvSpPr>
              <p:cNvPr name="Freeform 157" id="15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58" id="158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59" id="159"/>
            <p:cNvGrpSpPr/>
            <p:nvPr/>
          </p:nvGrpSpPr>
          <p:grpSpPr>
            <a:xfrm rot="0">
              <a:off x="1727897" y="3144985"/>
              <a:ext cx="182190" cy="182190"/>
              <a:chOff x="0" y="0"/>
              <a:chExt cx="812800" cy="812800"/>
            </a:xfrm>
          </p:grpSpPr>
          <p:sp>
            <p:nvSpPr>
              <p:cNvPr name="Freeform 160" id="16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61" id="161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62" id="162"/>
            <p:cNvGrpSpPr/>
            <p:nvPr/>
          </p:nvGrpSpPr>
          <p:grpSpPr>
            <a:xfrm rot="0">
              <a:off x="2183373" y="943346"/>
              <a:ext cx="182190" cy="182190"/>
              <a:chOff x="0" y="0"/>
              <a:chExt cx="812800" cy="812800"/>
            </a:xfrm>
          </p:grpSpPr>
          <p:sp>
            <p:nvSpPr>
              <p:cNvPr name="Freeform 163" id="16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64" id="164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65" id="165"/>
            <p:cNvGrpSpPr/>
            <p:nvPr/>
          </p:nvGrpSpPr>
          <p:grpSpPr>
            <a:xfrm rot="0">
              <a:off x="352047" y="384078"/>
              <a:ext cx="182190" cy="182190"/>
              <a:chOff x="0" y="0"/>
              <a:chExt cx="812800" cy="812800"/>
            </a:xfrm>
          </p:grpSpPr>
          <p:sp>
            <p:nvSpPr>
              <p:cNvPr name="Freeform 166" id="16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67" id="16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68" id="168"/>
            <p:cNvGrpSpPr/>
            <p:nvPr/>
          </p:nvGrpSpPr>
          <p:grpSpPr>
            <a:xfrm rot="0">
              <a:off x="4197831" y="2700329"/>
              <a:ext cx="182190" cy="182190"/>
              <a:chOff x="0" y="0"/>
              <a:chExt cx="812800" cy="812800"/>
            </a:xfrm>
          </p:grpSpPr>
          <p:sp>
            <p:nvSpPr>
              <p:cNvPr name="Freeform 169" id="16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70" id="170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71" id="171"/>
            <p:cNvGrpSpPr/>
            <p:nvPr/>
          </p:nvGrpSpPr>
          <p:grpSpPr>
            <a:xfrm rot="0">
              <a:off x="2274700" y="3979094"/>
              <a:ext cx="182190" cy="182190"/>
              <a:chOff x="0" y="0"/>
              <a:chExt cx="812800" cy="812800"/>
            </a:xfrm>
          </p:grpSpPr>
          <p:sp>
            <p:nvSpPr>
              <p:cNvPr name="Freeform 172" id="17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73" id="17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74" id="174"/>
            <p:cNvGrpSpPr/>
            <p:nvPr/>
          </p:nvGrpSpPr>
          <p:grpSpPr>
            <a:xfrm rot="0">
              <a:off x="1090231" y="3887998"/>
              <a:ext cx="182190" cy="182190"/>
              <a:chOff x="0" y="0"/>
              <a:chExt cx="812800" cy="812800"/>
            </a:xfrm>
          </p:grpSpPr>
          <p:sp>
            <p:nvSpPr>
              <p:cNvPr name="Freeform 175" id="17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76" id="176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77" id="177"/>
            <p:cNvGrpSpPr/>
            <p:nvPr/>
          </p:nvGrpSpPr>
          <p:grpSpPr>
            <a:xfrm rot="0">
              <a:off x="3754825" y="852251"/>
              <a:ext cx="182190" cy="182190"/>
              <a:chOff x="0" y="0"/>
              <a:chExt cx="812800" cy="812800"/>
            </a:xfrm>
          </p:grpSpPr>
          <p:sp>
            <p:nvSpPr>
              <p:cNvPr name="Freeform 178" id="17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79" id="17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80" id="180"/>
            <p:cNvGrpSpPr/>
            <p:nvPr/>
          </p:nvGrpSpPr>
          <p:grpSpPr>
            <a:xfrm rot="0">
              <a:off x="2974908" y="925081"/>
              <a:ext cx="182190" cy="182190"/>
              <a:chOff x="0" y="0"/>
              <a:chExt cx="812800" cy="812800"/>
            </a:xfrm>
          </p:grpSpPr>
          <p:sp>
            <p:nvSpPr>
              <p:cNvPr name="Freeform 181" id="18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82" id="18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83" id="183"/>
            <p:cNvGrpSpPr/>
            <p:nvPr/>
          </p:nvGrpSpPr>
          <p:grpSpPr>
            <a:xfrm rot="0">
              <a:off x="3845920" y="3531547"/>
              <a:ext cx="182190" cy="182190"/>
              <a:chOff x="0" y="0"/>
              <a:chExt cx="812800" cy="812800"/>
            </a:xfrm>
          </p:grpSpPr>
          <p:sp>
            <p:nvSpPr>
              <p:cNvPr name="Freeform 184" id="18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85" id="185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86" id="186"/>
            <p:cNvGrpSpPr/>
            <p:nvPr/>
          </p:nvGrpSpPr>
          <p:grpSpPr>
            <a:xfrm rot="0">
              <a:off x="4434566" y="943346"/>
              <a:ext cx="182190" cy="182190"/>
              <a:chOff x="0" y="0"/>
              <a:chExt cx="812800" cy="812800"/>
            </a:xfrm>
          </p:grpSpPr>
          <p:sp>
            <p:nvSpPr>
              <p:cNvPr name="Freeform 187" id="18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88" id="188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89" id="189"/>
            <p:cNvGrpSpPr/>
            <p:nvPr/>
          </p:nvGrpSpPr>
          <p:grpSpPr>
            <a:xfrm rot="0">
              <a:off x="4525661" y="4161284"/>
              <a:ext cx="182190" cy="182190"/>
              <a:chOff x="0" y="0"/>
              <a:chExt cx="812800" cy="812800"/>
            </a:xfrm>
          </p:grpSpPr>
          <p:sp>
            <p:nvSpPr>
              <p:cNvPr name="Freeform 190" id="19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91" id="191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192" id="192"/>
            <p:cNvGrpSpPr/>
            <p:nvPr/>
          </p:nvGrpSpPr>
          <p:grpSpPr>
            <a:xfrm rot="0">
              <a:off x="3157099" y="3887998"/>
              <a:ext cx="182190" cy="182190"/>
              <a:chOff x="0" y="0"/>
              <a:chExt cx="812800" cy="812800"/>
            </a:xfrm>
          </p:grpSpPr>
          <p:sp>
            <p:nvSpPr>
              <p:cNvPr name="Freeform 193" id="19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194" id="194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</p:grpSp>
      <p:sp>
        <p:nvSpPr>
          <p:cNvPr name="AutoShape 195" id="195"/>
          <p:cNvSpPr/>
          <p:nvPr/>
        </p:nvSpPr>
        <p:spPr>
          <a:xfrm>
            <a:off x="8138834" y="8101543"/>
            <a:ext cx="1882932" cy="0"/>
          </a:xfrm>
          <a:prstGeom prst="line">
            <a:avLst/>
          </a:prstGeom>
          <a:ln cap="flat" w="104775">
            <a:solidFill>
              <a:srgbClr val="0F4662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011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44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52554" y="401638"/>
            <a:ext cx="13878672" cy="103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9"/>
              </a:lnSpc>
              <a:spcBef>
                <a:spcPct val="0"/>
              </a:spcBef>
            </a:pPr>
            <a:r>
              <a:rPr lang="en-US" b="true" sz="51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Mathematical Formulation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3859" y="2317294"/>
            <a:ext cx="16756061" cy="682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Let P be a set of n distinct points in 2D space: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    </a:t>
            </a: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P = {p₁,p₂,...,pₙ},       pᵢ = (xᵢ ,yᵢ ) ∈ ℝ² </a:t>
            </a:r>
          </a:p>
          <a:p>
            <a:pPr algn="just" marL="755652" indent="-377826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Define T (set of non-intersecting triangles) as a triangulation over P.</a:t>
            </a:r>
          </a:p>
          <a:p>
            <a:pPr algn="just" marL="755652" indent="-377826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Each triangle in T is of the form: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     ∆ᵢ,ⱼ,ₖ , where </a:t>
            </a: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i ≤ j &lt; k ≤ n.</a:t>
            </a:r>
          </a:p>
          <a:p>
            <a:pPr algn="just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Objective : Minimize the triangulation cost c(T). So the objective function is as follows: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      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        </a:t>
            </a:r>
          </a:p>
          <a:p>
            <a:pPr algn="just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139238" y="4896022"/>
            <a:ext cx="9525" cy="447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4648973" y="7049114"/>
            <a:ext cx="11382252" cy="1368596"/>
            <a:chOff x="0" y="0"/>
            <a:chExt cx="15176337" cy="182479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2422734" y="0"/>
              <a:ext cx="7181018" cy="1824794"/>
              <a:chOff x="0" y="0"/>
              <a:chExt cx="1418473" cy="36045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418473" cy="360453"/>
              </a:xfrm>
              <a:custGeom>
                <a:avLst/>
                <a:gdLst/>
                <a:ahLst/>
                <a:cxnLst/>
                <a:rect r="r" b="b" t="t" l="l"/>
                <a:pathLst>
                  <a:path h="360453" w="1418473">
                    <a:moveTo>
                      <a:pt x="73311" y="0"/>
                    </a:moveTo>
                    <a:lnTo>
                      <a:pt x="1345161" y="0"/>
                    </a:lnTo>
                    <a:cubicBezTo>
                      <a:pt x="1364605" y="0"/>
                      <a:pt x="1383252" y="7724"/>
                      <a:pt x="1397000" y="21472"/>
                    </a:cubicBezTo>
                    <a:cubicBezTo>
                      <a:pt x="1410749" y="35221"/>
                      <a:pt x="1418473" y="53868"/>
                      <a:pt x="1418473" y="73311"/>
                    </a:cubicBezTo>
                    <a:lnTo>
                      <a:pt x="1418473" y="287142"/>
                    </a:lnTo>
                    <a:cubicBezTo>
                      <a:pt x="1418473" y="306585"/>
                      <a:pt x="1410749" y="325232"/>
                      <a:pt x="1397000" y="338981"/>
                    </a:cubicBezTo>
                    <a:cubicBezTo>
                      <a:pt x="1383252" y="352729"/>
                      <a:pt x="1364605" y="360453"/>
                      <a:pt x="1345161" y="360453"/>
                    </a:cubicBezTo>
                    <a:lnTo>
                      <a:pt x="73311" y="360453"/>
                    </a:lnTo>
                    <a:cubicBezTo>
                      <a:pt x="53868" y="360453"/>
                      <a:pt x="35221" y="352729"/>
                      <a:pt x="21472" y="338981"/>
                    </a:cubicBezTo>
                    <a:cubicBezTo>
                      <a:pt x="7724" y="325232"/>
                      <a:pt x="0" y="306585"/>
                      <a:pt x="0" y="287142"/>
                    </a:cubicBezTo>
                    <a:lnTo>
                      <a:pt x="0" y="73311"/>
                    </a:lnTo>
                    <a:cubicBezTo>
                      <a:pt x="0" y="53868"/>
                      <a:pt x="7724" y="35221"/>
                      <a:pt x="21472" y="21472"/>
                    </a:cubicBezTo>
                    <a:cubicBezTo>
                      <a:pt x="35221" y="7724"/>
                      <a:pt x="53868" y="0"/>
                      <a:pt x="73311" y="0"/>
                    </a:cubicBezTo>
                    <a:close/>
                  </a:path>
                </a:pathLst>
              </a:custGeom>
              <a:solidFill>
                <a:srgbClr val="C8D7E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23825"/>
                <a:ext cx="1418473" cy="4842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587416" y="216469"/>
              <a:ext cx="11588920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320"/>
                </a:lnSpc>
                <a:spcBef>
                  <a:spcPct val="0"/>
                </a:spcBef>
              </a:pPr>
              <a:r>
                <a:rPr lang="en-US" sz="3800">
                  <a:solidFill>
                    <a:srgbClr val="0F4662"/>
                  </a:solidFill>
                  <a:latin typeface="Open Sans"/>
                  <a:ea typeface="Open Sans"/>
                  <a:cs typeface="Open Sans"/>
                  <a:sym typeface="Open Sans"/>
                </a:rPr>
                <a:t>Min</a:t>
              </a:r>
              <a:r>
                <a:rPr lang="en-US" sz="3800">
                  <a:solidFill>
                    <a:srgbClr val="0F4662"/>
                  </a:solidFill>
                  <a:latin typeface="Open Sans"/>
                  <a:ea typeface="Open Sans"/>
                  <a:cs typeface="Open Sans"/>
                  <a:sym typeface="Open Sans"/>
                </a:rPr>
                <a:t>    ∑   w(∆ᵢ,ⱼ,ₖ)  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047353" y="853959"/>
              <a:ext cx="279797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F4662"/>
                  </a:solidFill>
                  <a:latin typeface="Open Sans"/>
                  <a:ea typeface="Open Sans"/>
                  <a:cs typeface="Open Sans"/>
                  <a:sym typeface="Open Sans"/>
                </a:rPr>
                <a:t>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0917"/>
              <a:ext cx="11588920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F4662"/>
                  </a:solidFill>
                  <a:latin typeface="Open Sans"/>
                  <a:ea typeface="Open Sans"/>
                  <a:cs typeface="Open Sans"/>
                  <a:sym typeface="Open Sans"/>
                </a:rPr>
                <a:t>∆ᵢ,ⱼ,ₖ</a:t>
              </a:r>
              <a:r>
                <a:rPr lang="en-US" sz="2299">
                  <a:solidFill>
                    <a:srgbClr val="0F4662"/>
                  </a:solidFill>
                  <a:latin typeface="Open Sans"/>
                  <a:ea typeface="Open Sans"/>
                  <a:cs typeface="Open Sans"/>
                  <a:sym typeface="Open Sans"/>
                </a:rPr>
                <a:t> ∈ 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011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44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52554" y="401638"/>
            <a:ext cx="13878672" cy="1031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9"/>
              </a:lnSpc>
              <a:spcBef>
                <a:spcPct val="0"/>
              </a:spcBef>
            </a:pPr>
            <a:r>
              <a:rPr lang="en-US" b="true" sz="51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NP Hard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888152"/>
            <a:ext cx="11661027" cy="402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28368" indent="-464184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It is an NP Hard problem</a:t>
            </a:r>
          </a:p>
          <a:p>
            <a:pPr algn="just" marL="928368" indent="-464184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Reduced to 3 SAT problem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      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        </a:t>
            </a:r>
          </a:p>
          <a:p>
            <a:pPr algn="just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139238" y="4896022"/>
            <a:ext cx="9525" cy="447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011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44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52554" y="401638"/>
            <a:ext cx="13878672" cy="103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39"/>
              </a:lnSpc>
              <a:spcBef>
                <a:spcPct val="0"/>
              </a:spcBef>
            </a:pPr>
            <a:r>
              <a:rPr lang="en-US" b="true" sz="51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Convex Hull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39238" y="4896022"/>
            <a:ext cx="9525" cy="447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467671" y="3531393"/>
            <a:ext cx="6963360" cy="5235741"/>
          </a:xfrm>
          <a:custGeom>
            <a:avLst/>
            <a:gdLst/>
            <a:ahLst/>
            <a:cxnLst/>
            <a:rect r="r" b="b" t="t" l="l"/>
            <a:pathLst>
              <a:path h="5235741" w="6963360">
                <a:moveTo>
                  <a:pt x="0" y="0"/>
                </a:moveTo>
                <a:lnTo>
                  <a:pt x="6963360" y="0"/>
                </a:lnTo>
                <a:lnTo>
                  <a:pt x="6963360" y="5235741"/>
                </a:lnTo>
                <a:lnTo>
                  <a:pt x="0" y="523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01300" y="3359943"/>
            <a:ext cx="8803653" cy="380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20"/>
              </a:lnSpc>
              <a:spcBef>
                <a:spcPct val="0"/>
              </a:spcBef>
            </a:pPr>
            <a:r>
              <a:rPr lang="en-US" sz="36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The convex hull of a set of points P in the plane is the smallest convex polygon that can be drawn using the outermost points, such that it contains all the points in P.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011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44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04664" y="295210"/>
            <a:ext cx="13878672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9"/>
              </a:lnSpc>
              <a:spcBef>
                <a:spcPct val="0"/>
              </a:spcBef>
            </a:pPr>
            <a:r>
              <a:rPr lang="en-US" b="true" sz="52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Exponential Time Algorithm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1814" y="2353652"/>
            <a:ext cx="17404772" cy="864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Generate all triangulations.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     𝒯(𝑃)</a:t>
            </a: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= {𝑇₁, 𝑇₂, ..., 𝑇ₖ}     (</a:t>
            </a: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all valid triangulations of 𝑃)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  <a:p>
            <a:pPr algn="just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Compute total</a:t>
            </a: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we</a:t>
            </a: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ig</a:t>
            </a: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ht for each triangulation 𝑇ᵢ: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      W(𝑇ᵢ) = Σ |e|     (for all edges e ∈ 𝑇ᵢ)</a:t>
            </a:r>
          </a:p>
          <a:p>
            <a:pPr algn="just">
              <a:lnSpc>
                <a:spcPts val="4900"/>
              </a:lnSpc>
            </a:pPr>
          </a:p>
          <a:p>
            <a:pPr algn="just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Total number of triangles: </a:t>
            </a:r>
            <a:r>
              <a:rPr lang="en-US" b="true" sz="3500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2*n - h - 2</a:t>
            </a: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, where </a:t>
            </a:r>
            <a:r>
              <a:rPr lang="en-US" b="true" sz="3500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</a:t>
            </a: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is number of convex hull points.</a:t>
            </a:r>
          </a:p>
          <a:p>
            <a:pPr algn="just">
              <a:lnSpc>
                <a:spcPts val="4900"/>
              </a:lnSpc>
            </a:pPr>
          </a:p>
          <a:p>
            <a:pPr algn="just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Sel</a:t>
            </a: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ect triangulation with minimum total weight: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      T*</a:t>
            </a: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=</a:t>
            </a: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arg min W(𝑇ᵢ)</a:t>
            </a:r>
          </a:p>
          <a:p>
            <a:pPr algn="just">
              <a:lnSpc>
                <a:spcPts val="4900"/>
              </a:lnSpc>
            </a:pPr>
          </a:p>
          <a:p>
            <a:pPr algn="just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Time complexity for this algorithm is known to be asymptotically </a:t>
            </a:r>
            <a:r>
              <a:rPr lang="en-US" b="true" sz="3500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</a:t>
            </a:r>
            <a:r>
              <a:rPr lang="en-US" b="true" sz="3500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(4ⁿ)</a:t>
            </a: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just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04664" y="8411832"/>
            <a:ext cx="1468338" cy="447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  <a:spcBef>
                <a:spcPct val="0"/>
              </a:spcBef>
            </a:pPr>
            <a:r>
              <a:rPr lang="en-US" sz="2638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(1 ≤ i ≤ k)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5100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C8D7E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816593" cy="582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773"/>
                </a:lnSpc>
                <a:spcBef>
                  <a:spcPct val="0"/>
                </a:spcBef>
              </a:pPr>
              <a:r>
                <a:rPr lang="en-US" b="true" sz="4838">
                  <a:solidFill>
                    <a:srgbClr val="0F4662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Graphical Understanding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048" y="4773517"/>
            <a:ext cx="3464218" cy="3281273"/>
            <a:chOff x="0" y="0"/>
            <a:chExt cx="1139166" cy="10790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9166" cy="1079006"/>
            </a:xfrm>
            <a:custGeom>
              <a:avLst/>
              <a:gdLst/>
              <a:ahLst/>
              <a:cxnLst/>
              <a:rect r="r" b="b" t="t" l="l"/>
              <a:pathLst>
                <a:path h="1079006" w="1139166">
                  <a:moveTo>
                    <a:pt x="0" y="0"/>
                  </a:moveTo>
                  <a:lnTo>
                    <a:pt x="1139166" y="0"/>
                  </a:lnTo>
                  <a:lnTo>
                    <a:pt x="1139166" y="1079006"/>
                  </a:lnTo>
                  <a:lnTo>
                    <a:pt x="0" y="1079006"/>
                  </a:lnTo>
                  <a:close/>
                </a:path>
              </a:pathLst>
            </a:custGeom>
            <a:solidFill>
              <a:srgbClr val="F8F8F8"/>
            </a:solidFill>
            <a:ln w="38100" cap="sq">
              <a:solidFill>
                <a:srgbClr val="0F466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139166" cy="1202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82053" y="5100795"/>
            <a:ext cx="254186" cy="25418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97633" y="7310091"/>
            <a:ext cx="254186" cy="25418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40501" y="6725431"/>
            <a:ext cx="254186" cy="25418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65056" y="5626882"/>
            <a:ext cx="254186" cy="25418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6942" y="5728492"/>
            <a:ext cx="254186" cy="25418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413408" y="5753975"/>
            <a:ext cx="254186" cy="25418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 flipH="true">
            <a:off x="1547624" y="5189897"/>
            <a:ext cx="534725" cy="652936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2082349" y="5189897"/>
            <a:ext cx="548808" cy="652936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2225501" y="5279095"/>
            <a:ext cx="1280932" cy="563738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3506433" y="6006068"/>
            <a:ext cx="199508" cy="816170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H="true">
            <a:off x="1692721" y="6822238"/>
            <a:ext cx="2013220" cy="616662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547624" y="5842834"/>
            <a:ext cx="145097" cy="1596067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>
            <a:off x="1547624" y="5679599"/>
            <a:ext cx="1083533" cy="163234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>
            <a:off x="1692721" y="5679599"/>
            <a:ext cx="938436" cy="1759301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2718130" y="5770858"/>
            <a:ext cx="696389" cy="93326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H="true">
            <a:off x="1723379" y="5961200"/>
            <a:ext cx="1718468" cy="1395851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5220516" y="4786579"/>
            <a:ext cx="3450427" cy="3268210"/>
            <a:chOff x="0" y="0"/>
            <a:chExt cx="4600570" cy="4357613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4600570" cy="4357613"/>
              <a:chOff x="0" y="0"/>
              <a:chExt cx="1139166" cy="107900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139166" cy="1079006"/>
              </a:xfrm>
              <a:custGeom>
                <a:avLst/>
                <a:gdLst/>
                <a:ahLst/>
                <a:cxnLst/>
                <a:rect r="r" b="b" t="t" l="l"/>
                <a:pathLst>
                  <a:path h="1079006" w="1139166">
                    <a:moveTo>
                      <a:pt x="0" y="0"/>
                    </a:moveTo>
                    <a:lnTo>
                      <a:pt x="1139166" y="0"/>
                    </a:lnTo>
                    <a:lnTo>
                      <a:pt x="1139166" y="1079006"/>
                    </a:lnTo>
                    <a:lnTo>
                      <a:pt x="0" y="1079006"/>
                    </a:lnTo>
                    <a:close/>
                  </a:path>
                </a:pathLst>
              </a:custGeom>
              <a:solidFill>
                <a:srgbClr val="F8F8F8"/>
              </a:solidFill>
              <a:ln w="38100" cap="sq">
                <a:solidFill>
                  <a:srgbClr val="0F4662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123825"/>
                <a:ext cx="1139166" cy="1202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438259" y="434634"/>
              <a:ext cx="337565" cy="337565"/>
              <a:chOff x="0" y="0"/>
              <a:chExt cx="81280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794937" y="3368635"/>
              <a:ext cx="337565" cy="337565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3507916" y="2592192"/>
              <a:ext cx="337565" cy="337565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2079699" y="1133291"/>
              <a:ext cx="337565" cy="337565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634655" y="1268232"/>
              <a:ext cx="337565" cy="337565"/>
              <a:chOff x="0" y="0"/>
              <a:chExt cx="812800" cy="812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3339134" y="1302073"/>
              <a:ext cx="337565" cy="337565"/>
              <a:chOff x="0" y="0"/>
              <a:chExt cx="812800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4662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79"/>
                  </a:lnSpc>
                </a:pPr>
              </a:p>
            </p:txBody>
          </p:sp>
        </p:grpSp>
        <p:sp>
          <p:nvSpPr>
            <p:cNvPr name="AutoShape 58" id="58"/>
            <p:cNvSpPr/>
            <p:nvPr/>
          </p:nvSpPr>
          <p:spPr>
            <a:xfrm flipH="true">
              <a:off x="861326" y="552964"/>
              <a:ext cx="710128" cy="867116"/>
            </a:xfrm>
            <a:prstGeom prst="line">
              <a:avLst/>
            </a:prstGeom>
            <a:ln cap="flat" w="40525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>
              <a:off x="1571454" y="552964"/>
              <a:ext cx="728831" cy="867116"/>
            </a:xfrm>
            <a:prstGeom prst="line">
              <a:avLst/>
            </a:prstGeom>
            <a:ln cap="flat" w="40525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0" id="60"/>
            <p:cNvSpPr/>
            <p:nvPr/>
          </p:nvSpPr>
          <p:spPr>
            <a:xfrm>
              <a:off x="1775824" y="552964"/>
              <a:ext cx="1686850" cy="867116"/>
            </a:xfrm>
            <a:prstGeom prst="line">
              <a:avLst/>
            </a:prstGeom>
            <a:ln cap="flat" w="40525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1" id="61"/>
            <p:cNvSpPr/>
            <p:nvPr/>
          </p:nvSpPr>
          <p:spPr>
            <a:xfrm>
              <a:off x="3462674" y="1636859"/>
              <a:ext cx="264952" cy="1083895"/>
            </a:xfrm>
            <a:prstGeom prst="line">
              <a:avLst/>
            </a:prstGeom>
            <a:ln cap="flat" w="40525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2" id="62"/>
            <p:cNvSpPr/>
            <p:nvPr/>
          </p:nvSpPr>
          <p:spPr>
            <a:xfrm flipH="true">
              <a:off x="1054018" y="2720754"/>
              <a:ext cx="2673608" cy="818943"/>
            </a:xfrm>
            <a:prstGeom prst="line">
              <a:avLst/>
            </a:prstGeom>
            <a:ln cap="flat" w="40525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3" id="63"/>
            <p:cNvSpPr/>
            <p:nvPr/>
          </p:nvSpPr>
          <p:spPr>
            <a:xfrm>
              <a:off x="861326" y="1420080"/>
              <a:ext cx="192692" cy="2119617"/>
            </a:xfrm>
            <a:prstGeom prst="line">
              <a:avLst/>
            </a:prstGeom>
            <a:ln cap="flat" w="40525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4" id="64"/>
            <p:cNvSpPr/>
            <p:nvPr/>
          </p:nvSpPr>
          <p:spPr>
            <a:xfrm flipH="true" flipV="true">
              <a:off x="2414937" y="1330166"/>
              <a:ext cx="1261762" cy="212949"/>
            </a:xfrm>
            <a:prstGeom prst="line">
              <a:avLst/>
            </a:prstGeom>
            <a:ln cap="flat" w="40525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5" id="65"/>
            <p:cNvSpPr/>
            <p:nvPr/>
          </p:nvSpPr>
          <p:spPr>
            <a:xfrm flipH="true">
              <a:off x="1132502" y="1450614"/>
              <a:ext cx="1035765" cy="1918022"/>
            </a:xfrm>
            <a:prstGeom prst="line">
              <a:avLst/>
            </a:prstGeom>
            <a:ln cap="flat" w="40525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6" id="66"/>
            <p:cNvSpPr/>
            <p:nvPr/>
          </p:nvSpPr>
          <p:spPr>
            <a:xfrm>
              <a:off x="2367829" y="1421421"/>
              <a:ext cx="1261475" cy="1261475"/>
            </a:xfrm>
            <a:prstGeom prst="line">
              <a:avLst/>
            </a:prstGeom>
            <a:ln cap="flat" w="40525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7" id="67"/>
            <p:cNvSpPr/>
            <p:nvPr/>
          </p:nvSpPr>
          <p:spPr>
            <a:xfrm flipH="true">
              <a:off x="794937" y="1325455"/>
              <a:ext cx="1286369" cy="179916"/>
            </a:xfrm>
            <a:prstGeom prst="line">
              <a:avLst/>
            </a:prstGeom>
            <a:ln cap="flat" w="40525">
              <a:solidFill>
                <a:srgbClr val="0F4662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423190" y="4786579"/>
            <a:ext cx="3450427" cy="3268210"/>
            <a:chOff x="0" y="0"/>
            <a:chExt cx="1139166" cy="107900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39166" cy="1079006"/>
            </a:xfrm>
            <a:custGeom>
              <a:avLst/>
              <a:gdLst/>
              <a:ahLst/>
              <a:cxnLst/>
              <a:rect r="r" b="b" t="t" l="l"/>
              <a:pathLst>
                <a:path h="1079006" w="1139166">
                  <a:moveTo>
                    <a:pt x="0" y="0"/>
                  </a:moveTo>
                  <a:lnTo>
                    <a:pt x="1139166" y="0"/>
                  </a:lnTo>
                  <a:lnTo>
                    <a:pt x="1139166" y="1079006"/>
                  </a:lnTo>
                  <a:lnTo>
                    <a:pt x="0" y="1079006"/>
                  </a:lnTo>
                  <a:close/>
                </a:path>
              </a:pathLst>
            </a:custGeom>
            <a:solidFill>
              <a:srgbClr val="F8F8F8"/>
            </a:solidFill>
            <a:ln w="38100" cap="sq">
              <a:solidFill>
                <a:srgbClr val="0F4662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123825"/>
              <a:ext cx="1139166" cy="1202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501884" y="5112554"/>
            <a:ext cx="253174" cy="253174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019392" y="7313056"/>
            <a:ext cx="253174" cy="253174"/>
            <a:chOff x="0" y="0"/>
            <a:chExt cx="81280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054127" y="6730723"/>
            <a:ext cx="253174" cy="253174"/>
            <a:chOff x="0" y="0"/>
            <a:chExt cx="81280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982964" y="5636547"/>
            <a:ext cx="253174" cy="253174"/>
            <a:chOff x="0" y="0"/>
            <a:chExt cx="812800" cy="812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899181" y="5737753"/>
            <a:ext cx="253174" cy="253174"/>
            <a:chOff x="0" y="0"/>
            <a:chExt cx="812800" cy="812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927540" y="5763134"/>
            <a:ext cx="253174" cy="253174"/>
            <a:chOff x="0" y="0"/>
            <a:chExt cx="812800" cy="812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9" id="89"/>
          <p:cNvSpPr/>
          <p:nvPr/>
        </p:nvSpPr>
        <p:spPr>
          <a:xfrm flipH="true">
            <a:off x="10069184" y="5201302"/>
            <a:ext cx="532596" cy="650337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>
            <a:off x="10601780" y="5201302"/>
            <a:ext cx="546623" cy="650337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>
            <a:off x="10744363" y="5290145"/>
            <a:ext cx="1275833" cy="561494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>
            <a:off x="12020195" y="6014224"/>
            <a:ext cx="198714" cy="812921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flipH="true">
            <a:off x="10213703" y="6827145"/>
            <a:ext cx="2005206" cy="614207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>
            <a:off x="10069184" y="5851639"/>
            <a:ext cx="144519" cy="1589713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 flipH="true" flipV="true">
            <a:off x="11235031" y="5779950"/>
            <a:ext cx="693617" cy="92955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flipH="true">
            <a:off x="10209069" y="5872904"/>
            <a:ext cx="837392" cy="1456970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>
            <a:off x="11198105" y="5853591"/>
            <a:ext cx="894055" cy="913263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 flipH="true">
            <a:off x="10145979" y="5363117"/>
            <a:ext cx="456787" cy="2203113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9" id="99"/>
          <p:cNvGrpSpPr/>
          <p:nvPr/>
        </p:nvGrpSpPr>
        <p:grpSpPr>
          <a:xfrm rot="0">
            <a:off x="13580273" y="4786579"/>
            <a:ext cx="3450427" cy="3268210"/>
            <a:chOff x="0" y="0"/>
            <a:chExt cx="1139166" cy="107900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39166" cy="1079006"/>
            </a:xfrm>
            <a:custGeom>
              <a:avLst/>
              <a:gdLst/>
              <a:ahLst/>
              <a:cxnLst/>
              <a:rect r="r" b="b" t="t" l="l"/>
              <a:pathLst>
                <a:path h="1079006" w="1139166">
                  <a:moveTo>
                    <a:pt x="0" y="0"/>
                  </a:moveTo>
                  <a:lnTo>
                    <a:pt x="1139166" y="0"/>
                  </a:lnTo>
                  <a:lnTo>
                    <a:pt x="1139166" y="1079006"/>
                  </a:lnTo>
                  <a:lnTo>
                    <a:pt x="0" y="1079006"/>
                  </a:lnTo>
                  <a:close/>
                </a:path>
              </a:pathLst>
            </a:custGeom>
            <a:solidFill>
              <a:srgbClr val="F8F8F8"/>
            </a:solidFill>
            <a:ln w="38100" cap="sq">
              <a:solidFill>
                <a:srgbClr val="0F4662"/>
              </a:solidFill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123825"/>
              <a:ext cx="1139166" cy="1202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4658967" y="5112554"/>
            <a:ext cx="253174" cy="253174"/>
            <a:chOff x="0" y="0"/>
            <a:chExt cx="812800" cy="8128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4176475" y="7313056"/>
            <a:ext cx="253174" cy="253174"/>
            <a:chOff x="0" y="0"/>
            <a:chExt cx="812800" cy="8128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6211210" y="6730723"/>
            <a:ext cx="253174" cy="253174"/>
            <a:chOff x="0" y="0"/>
            <a:chExt cx="812800" cy="8128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10" id="11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5140047" y="5636547"/>
            <a:ext cx="253174" cy="253174"/>
            <a:chOff x="0" y="0"/>
            <a:chExt cx="812800" cy="8128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13" id="11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4056264" y="5737753"/>
            <a:ext cx="253174" cy="253174"/>
            <a:chOff x="0" y="0"/>
            <a:chExt cx="812800" cy="8128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16" id="11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6084623" y="5763134"/>
            <a:ext cx="253174" cy="253174"/>
            <a:chOff x="0" y="0"/>
            <a:chExt cx="812800" cy="8128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19" id="11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120" id="120"/>
          <p:cNvSpPr/>
          <p:nvPr/>
        </p:nvSpPr>
        <p:spPr>
          <a:xfrm flipH="true">
            <a:off x="14226267" y="5201302"/>
            <a:ext cx="532596" cy="650337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1" id="121"/>
          <p:cNvSpPr/>
          <p:nvPr/>
        </p:nvSpPr>
        <p:spPr>
          <a:xfrm>
            <a:off x="14758863" y="5201302"/>
            <a:ext cx="546623" cy="650337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2" id="122"/>
          <p:cNvSpPr/>
          <p:nvPr/>
        </p:nvSpPr>
        <p:spPr>
          <a:xfrm>
            <a:off x="14901445" y="5290145"/>
            <a:ext cx="1275833" cy="561494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3" id="123"/>
          <p:cNvSpPr/>
          <p:nvPr/>
        </p:nvSpPr>
        <p:spPr>
          <a:xfrm>
            <a:off x="16177278" y="6014224"/>
            <a:ext cx="198714" cy="812921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4" id="124"/>
          <p:cNvSpPr/>
          <p:nvPr/>
        </p:nvSpPr>
        <p:spPr>
          <a:xfrm flipH="true">
            <a:off x="14370786" y="6827145"/>
            <a:ext cx="2005206" cy="614207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5" id="125"/>
          <p:cNvSpPr/>
          <p:nvPr/>
        </p:nvSpPr>
        <p:spPr>
          <a:xfrm>
            <a:off x="14226267" y="5851639"/>
            <a:ext cx="144519" cy="1589713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6" id="126"/>
          <p:cNvSpPr/>
          <p:nvPr/>
        </p:nvSpPr>
        <p:spPr>
          <a:xfrm flipH="true" flipV="true">
            <a:off x="15392113" y="5779950"/>
            <a:ext cx="693617" cy="92955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7" id="127"/>
          <p:cNvSpPr/>
          <p:nvPr/>
        </p:nvSpPr>
        <p:spPr>
          <a:xfrm flipH="true">
            <a:off x="14366152" y="5872904"/>
            <a:ext cx="837392" cy="1456970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8" id="128"/>
          <p:cNvSpPr/>
          <p:nvPr/>
        </p:nvSpPr>
        <p:spPr>
          <a:xfrm flipH="true">
            <a:off x="14401322" y="5969535"/>
            <a:ext cx="1711627" cy="1390295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9" id="129"/>
          <p:cNvSpPr/>
          <p:nvPr/>
        </p:nvSpPr>
        <p:spPr>
          <a:xfrm flipH="true">
            <a:off x="14308898" y="5774905"/>
            <a:ext cx="831688" cy="77665"/>
          </a:xfrm>
          <a:prstGeom prst="line">
            <a:avLst/>
          </a:prstGeom>
          <a:ln cap="flat" w="28575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0" id="130"/>
          <p:cNvSpPr txBox="true"/>
          <p:nvPr/>
        </p:nvSpPr>
        <p:spPr>
          <a:xfrm rot="0">
            <a:off x="452201" y="2760566"/>
            <a:ext cx="9820365" cy="738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68" indent="-464184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Possible Triangulations (Example) :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781415" y="8683439"/>
            <a:ext cx="16249285" cy="738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</a:pPr>
            <a:r>
              <a:rPr lang="en-US" sz="42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           (a)                        (b)                          (c)                        (d)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59167" y="1466250"/>
            <a:ext cx="8216119" cy="8686196"/>
          </a:xfrm>
          <a:custGeom>
            <a:avLst/>
            <a:gdLst/>
            <a:ahLst/>
            <a:cxnLst/>
            <a:rect r="r" b="b" t="t" l="l"/>
            <a:pathLst>
              <a:path h="8686196" w="8216119">
                <a:moveTo>
                  <a:pt x="0" y="0"/>
                </a:moveTo>
                <a:lnTo>
                  <a:pt x="8216119" y="0"/>
                </a:lnTo>
                <a:lnTo>
                  <a:pt x="8216119" y="8686196"/>
                </a:lnTo>
                <a:lnTo>
                  <a:pt x="0" y="868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9" r="0" b="-54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0167" y="265382"/>
            <a:ext cx="17249086" cy="81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4800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Greedy Algorithm for Minimum Weight Traigulation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44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16778" y="52020"/>
            <a:ext cx="9556700" cy="116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29"/>
              </a:lnSpc>
              <a:spcBef>
                <a:spcPct val="0"/>
              </a:spcBef>
            </a:pPr>
            <a:r>
              <a:rPr lang="en-US" b="true" sz="58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Time Complexity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1779" y="2176185"/>
            <a:ext cx="821874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Gene</a:t>
            </a: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rating all edges:  O(n²)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7757" y="3280396"/>
            <a:ext cx="1699422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Sorting edges by length : O(n²log⁡n²)=O(n²log⁡n)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7757" y="4388472"/>
            <a:ext cx="496193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Edge Processing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4241" y="6985620"/>
            <a:ext cx="1183445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Worst-case complexity: O(n²×n²)=O(n</a:t>
            </a: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09969" y="5217769"/>
            <a:ext cx="7863053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9"/>
              </a:lnSpc>
              <a:spcBef>
                <a:spcPct val="0"/>
              </a:spcBef>
            </a:pP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For each of the O(n²) edges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08555" y="6044545"/>
            <a:ext cx="13363932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99" indent="-431800" lvl="1">
              <a:lnSpc>
                <a:spcPts val="6799"/>
              </a:lnSpc>
              <a:buFont typeface="Arial"/>
              <a:buChar char="•"/>
            </a:pP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Check f</a:t>
            </a: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or intersection with up to O(n²) existing edges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73914" y="8328024"/>
            <a:ext cx="8551545" cy="93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9"/>
              </a:lnSpc>
              <a:spcBef>
                <a:spcPct val="0"/>
              </a:spcBef>
            </a:pPr>
            <a:r>
              <a:rPr lang="en-US" b="true" sz="46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Time complexity : O(n</a:t>
            </a:r>
            <a:r>
              <a:rPr lang="en-US" b="true" sz="46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  <a:r>
              <a:rPr lang="en-US" b="true" sz="46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011"/>
            <a:ext cx="18288000" cy="1887199"/>
            <a:chOff x="0" y="0"/>
            <a:chExt cx="4816593" cy="497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97040"/>
            </a:xfrm>
            <a:custGeom>
              <a:avLst/>
              <a:gdLst/>
              <a:ahLst/>
              <a:cxnLst/>
              <a:rect r="r" b="b" t="t" l="l"/>
              <a:pathLst>
                <a:path h="4970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97040"/>
                  </a:lnTo>
                  <a:lnTo>
                    <a:pt x="0" y="49704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44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84068" y="328548"/>
            <a:ext cx="2881670" cy="100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0"/>
              </a:lnSpc>
              <a:spcBef>
                <a:spcPct val="0"/>
              </a:spcBef>
            </a:pPr>
            <a:r>
              <a:rPr lang="en-US" b="true" sz="5000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Example: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03598"/>
            <a:ext cx="16756061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A (0, 1), B (1, 1), C (-5, 0), D (-1, -1), E (-6, -3),</a:t>
            </a: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F (-1, -5), G (2, -2), H (1, -3), 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I (3, -3), J (1, -6)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13859" y="3117336"/>
            <a:ext cx="987004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Points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3859" y="2308785"/>
            <a:ext cx="1675606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Input : set of 10 points on 2D plane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557659" y="2494512"/>
            <a:ext cx="6221828" cy="5656915"/>
          </a:xfrm>
          <a:custGeom>
            <a:avLst/>
            <a:gdLst/>
            <a:ahLst/>
            <a:cxnLst/>
            <a:rect r="r" b="b" t="t" l="l"/>
            <a:pathLst>
              <a:path h="5656915" w="6221828">
                <a:moveTo>
                  <a:pt x="0" y="0"/>
                </a:moveTo>
                <a:lnTo>
                  <a:pt x="6221829" y="0"/>
                </a:lnTo>
                <a:lnTo>
                  <a:pt x="6221829" y="5656914"/>
                </a:lnTo>
                <a:lnTo>
                  <a:pt x="0" y="5656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2" r="0" b="-49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5580" y="349250"/>
            <a:ext cx="673417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 of 10 point in 2D plane</a:t>
            </a: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28198" y="1384165"/>
            <a:ext cx="10081140" cy="4232015"/>
          </a:xfrm>
          <a:custGeom>
            <a:avLst/>
            <a:gdLst/>
            <a:ahLst/>
            <a:cxnLst/>
            <a:rect r="r" b="b" t="t" l="l"/>
            <a:pathLst>
              <a:path h="4232015" w="10081140">
                <a:moveTo>
                  <a:pt x="0" y="0"/>
                </a:moveTo>
                <a:lnTo>
                  <a:pt x="10081140" y="0"/>
                </a:lnTo>
                <a:lnTo>
                  <a:pt x="10081140" y="4232015"/>
                </a:lnTo>
                <a:lnTo>
                  <a:pt x="0" y="4232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95207" y="6078963"/>
            <a:ext cx="10747122" cy="3700660"/>
          </a:xfrm>
          <a:custGeom>
            <a:avLst/>
            <a:gdLst/>
            <a:ahLst/>
            <a:cxnLst/>
            <a:rect r="r" b="b" t="t" l="l"/>
            <a:pathLst>
              <a:path h="3700660" w="10747122">
                <a:moveTo>
                  <a:pt x="0" y="0"/>
                </a:moveTo>
                <a:lnTo>
                  <a:pt x="10747122" y="0"/>
                </a:lnTo>
                <a:lnTo>
                  <a:pt x="10747122" y="3700660"/>
                </a:lnTo>
                <a:lnTo>
                  <a:pt x="0" y="3700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12613" y="1684924"/>
            <a:ext cx="7302220" cy="6421193"/>
          </a:xfrm>
          <a:custGeom>
            <a:avLst/>
            <a:gdLst/>
            <a:ahLst/>
            <a:cxnLst/>
            <a:rect r="r" b="b" t="t" l="l"/>
            <a:pathLst>
              <a:path h="6421193" w="7302220">
                <a:moveTo>
                  <a:pt x="0" y="0"/>
                </a:moveTo>
                <a:lnTo>
                  <a:pt x="7302220" y="0"/>
                </a:lnTo>
                <a:lnTo>
                  <a:pt x="7302220" y="6421194"/>
                </a:lnTo>
                <a:lnTo>
                  <a:pt x="0" y="6421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36" t="-3693" r="-293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7978" y="637809"/>
            <a:ext cx="2826989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Iteration 1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222755" y="8278514"/>
            <a:ext cx="590921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AB=1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18448" y="1512834"/>
            <a:ext cx="6858827" cy="6509415"/>
          </a:xfrm>
          <a:custGeom>
            <a:avLst/>
            <a:gdLst/>
            <a:ahLst/>
            <a:cxnLst/>
            <a:rect r="r" b="b" t="t" l="l"/>
            <a:pathLst>
              <a:path h="6509415" w="6858827">
                <a:moveTo>
                  <a:pt x="0" y="0"/>
                </a:moveTo>
                <a:lnTo>
                  <a:pt x="6858827" y="0"/>
                </a:lnTo>
                <a:lnTo>
                  <a:pt x="6858827" y="6509416"/>
                </a:lnTo>
                <a:lnTo>
                  <a:pt x="0" y="6509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10725" y="8226149"/>
            <a:ext cx="590921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GH=1.41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54472" y="3228109"/>
            <a:ext cx="952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97033" y="665443"/>
            <a:ext cx="2826989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Iteration 2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960968" y="3164597"/>
            <a:ext cx="6366064" cy="5798460"/>
          </a:xfrm>
          <a:custGeom>
            <a:avLst/>
            <a:gdLst/>
            <a:ahLst/>
            <a:cxnLst/>
            <a:rect r="r" b="b" t="t" l="l"/>
            <a:pathLst>
              <a:path h="5798460" w="6366064">
                <a:moveTo>
                  <a:pt x="0" y="0"/>
                </a:moveTo>
                <a:lnTo>
                  <a:pt x="6366064" y="0"/>
                </a:lnTo>
                <a:lnTo>
                  <a:pt x="6366064" y="5798460"/>
                </a:lnTo>
                <a:lnTo>
                  <a:pt x="0" y="5798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9055" y="637809"/>
            <a:ext cx="17195203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Now joint </a:t>
            </a:r>
            <a:r>
              <a:rPr lang="en-US" b="true" sz="39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GI,HI,AD,FJ,BD,FH,DH,HJ,BG,CE; </a:t>
            </a: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according to increasing length because their are not intersect with others.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824132" y="2902961"/>
            <a:ext cx="6639736" cy="5601476"/>
          </a:xfrm>
          <a:custGeom>
            <a:avLst/>
            <a:gdLst/>
            <a:ahLst/>
            <a:cxnLst/>
            <a:rect r="r" b="b" t="t" l="l"/>
            <a:pathLst>
              <a:path h="5601476" w="6639736">
                <a:moveTo>
                  <a:pt x="0" y="0"/>
                </a:moveTo>
                <a:lnTo>
                  <a:pt x="6639736" y="0"/>
                </a:lnTo>
                <a:lnTo>
                  <a:pt x="6639736" y="5601476"/>
                </a:lnTo>
                <a:lnTo>
                  <a:pt x="0" y="5601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2319" y="637809"/>
            <a:ext cx="16782323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We cannot include the edge AG because it intersects with other existing edges. So we discard it.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65560" y="3362440"/>
            <a:ext cx="7335910" cy="5895860"/>
          </a:xfrm>
          <a:custGeom>
            <a:avLst/>
            <a:gdLst/>
            <a:ahLst/>
            <a:cxnLst/>
            <a:rect r="r" b="b" t="t" l="l"/>
            <a:pathLst>
              <a:path h="5895860" w="7335910">
                <a:moveTo>
                  <a:pt x="0" y="0"/>
                </a:moveTo>
                <a:lnTo>
                  <a:pt x="7335910" y="0"/>
                </a:lnTo>
                <a:lnTo>
                  <a:pt x="7335910" y="5895860"/>
                </a:lnTo>
                <a:lnTo>
                  <a:pt x="0" y="5895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3742" y="424449"/>
            <a:ext cx="17774258" cy="307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The final triangulation is obtained using a greedy method. The total number of  Triangles is given by the formula: </a:t>
            </a: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2n−h−2, 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where n is the total number of points and h is the number of points on the convex hull.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21797" y="5932545"/>
            <a:ext cx="571297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weight is 70.9586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90423" y="2770939"/>
            <a:ext cx="8154578" cy="5621465"/>
          </a:xfrm>
          <a:custGeom>
            <a:avLst/>
            <a:gdLst/>
            <a:ahLst/>
            <a:cxnLst/>
            <a:rect r="r" b="b" t="t" l="l"/>
            <a:pathLst>
              <a:path h="5621465" w="8154578">
                <a:moveTo>
                  <a:pt x="0" y="0"/>
                </a:moveTo>
                <a:lnTo>
                  <a:pt x="8154577" y="0"/>
                </a:lnTo>
                <a:lnTo>
                  <a:pt x="8154577" y="5621465"/>
                </a:lnTo>
                <a:lnTo>
                  <a:pt x="0" y="5621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40" t="0" r="-21562" b="-351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69214" y="2850272"/>
            <a:ext cx="8497405" cy="5383730"/>
          </a:xfrm>
          <a:custGeom>
            <a:avLst/>
            <a:gdLst/>
            <a:ahLst/>
            <a:cxnLst/>
            <a:rect r="r" b="b" t="t" l="l"/>
            <a:pathLst>
              <a:path h="5383730" w="8497405">
                <a:moveTo>
                  <a:pt x="0" y="0"/>
                </a:moveTo>
                <a:lnTo>
                  <a:pt x="8497405" y="0"/>
                </a:lnTo>
                <a:lnTo>
                  <a:pt x="8497405" y="5383730"/>
                </a:lnTo>
                <a:lnTo>
                  <a:pt x="0" y="5383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07" t="0" r="-782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76656" y="799098"/>
            <a:ext cx="14226183" cy="885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b="true" sz="44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</a:t>
            </a:r>
            <a:r>
              <a:rPr lang="en-US" b="true" sz="44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oretical vs. Practical Performance Comparison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98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22520" y="4318282"/>
            <a:ext cx="5123029" cy="3851999"/>
          </a:xfrm>
          <a:custGeom>
            <a:avLst/>
            <a:gdLst/>
            <a:ahLst/>
            <a:cxnLst/>
            <a:rect r="r" b="b" t="t" l="l"/>
            <a:pathLst>
              <a:path h="3851999" w="5123029">
                <a:moveTo>
                  <a:pt x="0" y="0"/>
                </a:moveTo>
                <a:lnTo>
                  <a:pt x="5123028" y="0"/>
                </a:lnTo>
                <a:lnTo>
                  <a:pt x="5123028" y="3851998"/>
                </a:lnTo>
                <a:lnTo>
                  <a:pt x="0" y="385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29119" y="590184"/>
            <a:ext cx="10815165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Dynamic Programming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935" y="2613305"/>
            <a:ext cx="7778767" cy="79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9"/>
              </a:lnSpc>
              <a:spcBef>
                <a:spcPct val="0"/>
              </a:spcBef>
            </a:pPr>
            <a:r>
              <a:rPr lang="en-US" b="true" sz="39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Algorithm - Stepwise Process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8643" y="4146832"/>
            <a:ext cx="8437237" cy="489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2247" indent="-381124" lvl="1">
              <a:lnSpc>
                <a:spcPts val="6001"/>
              </a:lnSpc>
              <a:buFont typeface="Arial"/>
              <a:buChar char="•"/>
            </a:pPr>
            <a:r>
              <a:rPr lang="en-US" sz="353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Compute convex hull</a:t>
            </a:r>
          </a:p>
          <a:p>
            <a:pPr algn="just" marL="762247" indent="-381124" lvl="1">
              <a:lnSpc>
                <a:spcPts val="6001"/>
              </a:lnSpc>
              <a:buFont typeface="Arial"/>
              <a:buChar char="•"/>
            </a:pPr>
            <a:r>
              <a:rPr lang="en-US" sz="353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Separate interior points</a:t>
            </a:r>
          </a:p>
          <a:p>
            <a:pPr algn="just" marL="762247" indent="-381124" lvl="1">
              <a:lnSpc>
                <a:spcPts val="6001"/>
              </a:lnSpc>
              <a:buFont typeface="Arial"/>
              <a:buChar char="•"/>
            </a:pPr>
            <a:r>
              <a:rPr lang="en-US" sz="353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Triangulate convex hull via DP</a:t>
            </a:r>
          </a:p>
          <a:p>
            <a:pPr algn="just" marL="762247" indent="-381124" lvl="1">
              <a:lnSpc>
                <a:spcPts val="6001"/>
              </a:lnSpc>
              <a:buFont typeface="Arial"/>
              <a:buChar char="•"/>
            </a:pPr>
            <a:r>
              <a:rPr lang="en-US" sz="353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Insert interior points</a:t>
            </a:r>
          </a:p>
          <a:p>
            <a:pPr algn="just" marL="762247" indent="-381124" lvl="1">
              <a:lnSpc>
                <a:spcPts val="6001"/>
              </a:lnSpc>
              <a:buFont typeface="Arial"/>
              <a:buChar char="•"/>
            </a:pPr>
            <a:r>
              <a:rPr lang="en-US" sz="353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Calculate total perimeter</a:t>
            </a:r>
          </a:p>
          <a:p>
            <a:pPr algn="just">
              <a:lnSpc>
                <a:spcPts val="950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5391772"/>
            <a:ext cx="18288000" cy="438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4419"/>
              </a:lnSpc>
              <a:buFont typeface="Arial"/>
              <a:buChar char="•"/>
            </a:pPr>
            <a:r>
              <a:rPr lang="en-US" b="true" sz="25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Case I: </a:t>
            </a:r>
            <a:r>
              <a:rPr lang="en-US" sz="25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Split the polygon into two parts by connecting a vertex v t</a:t>
            </a:r>
            <a:r>
              <a:rPr lang="en-US" sz="25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o an intermediate vertex. Recursively triangulate both parts, then add the triangle formed by v, the f irst part’s vertex and the second part’s vertex. </a:t>
            </a:r>
          </a:p>
          <a:p>
            <a:pPr algn="l" marL="561339" indent="-280669" lvl="1">
              <a:lnSpc>
                <a:spcPts val="4419"/>
              </a:lnSpc>
              <a:buFont typeface="Arial"/>
              <a:buChar char="•"/>
            </a:pPr>
            <a:r>
              <a:rPr lang="en-US" b="true" sz="25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CaseII:</a:t>
            </a:r>
            <a:r>
              <a:rPr lang="en-US" sz="25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Split the polygon at an intermediate vertex vA. Form a triangle (v,vA,vA+1) and recursively triangulate the remaining polygon.</a:t>
            </a:r>
          </a:p>
          <a:p>
            <a:pPr algn="l" marL="561339" indent="-280669" lvl="1">
              <a:lnSpc>
                <a:spcPts val="4419"/>
              </a:lnSpc>
              <a:buFont typeface="Arial"/>
              <a:buChar char="•"/>
            </a:pPr>
            <a:r>
              <a:rPr lang="en-US" b="true" sz="25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Case III:</a:t>
            </a:r>
            <a:r>
              <a:rPr lang="en-US" sz="25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A small triangle is formed directly by three adjacent vertices (v,vA,vA+1), and the rest of the polygon is solved recursively.</a:t>
            </a:r>
          </a:p>
          <a:p>
            <a:pPr algn="l" marL="561339" indent="-280669" lvl="1">
              <a:lnSpc>
                <a:spcPts val="4419"/>
              </a:lnSpc>
              <a:buFont typeface="Arial"/>
              <a:buChar char="•"/>
            </a:pPr>
            <a:r>
              <a:rPr lang="en-US" b="true" sz="25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Case IV:</a:t>
            </a:r>
            <a:r>
              <a:rPr lang="en-US" sz="25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A point v is inserted inside an existing triangle. The triangle is then replaced with three smaller triangles connecting v to each pair of the original tri angle’s vertices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329879" y="868694"/>
            <a:ext cx="8724094" cy="4274806"/>
          </a:xfrm>
          <a:custGeom>
            <a:avLst/>
            <a:gdLst/>
            <a:ahLst/>
            <a:cxnLst/>
            <a:rect r="r" b="b" t="t" l="l"/>
            <a:pathLst>
              <a:path h="4274806" w="8724094">
                <a:moveTo>
                  <a:pt x="0" y="0"/>
                </a:moveTo>
                <a:lnTo>
                  <a:pt x="8724094" y="0"/>
                </a:lnTo>
                <a:lnTo>
                  <a:pt x="8724094" y="4274806"/>
                </a:lnTo>
                <a:lnTo>
                  <a:pt x="0" y="427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950155" cy="10287000"/>
          </a:xfrm>
          <a:custGeom>
            <a:avLst/>
            <a:gdLst/>
            <a:ahLst/>
            <a:cxnLst/>
            <a:rect r="r" b="b" t="t" l="l"/>
            <a:pathLst>
              <a:path h="10287000" w="8950155">
                <a:moveTo>
                  <a:pt x="0" y="0"/>
                </a:moveTo>
                <a:lnTo>
                  <a:pt x="8950155" y="0"/>
                </a:lnTo>
                <a:lnTo>
                  <a:pt x="895015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6" t="0" r="-62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50155" y="0"/>
            <a:ext cx="9337845" cy="4333217"/>
          </a:xfrm>
          <a:custGeom>
            <a:avLst/>
            <a:gdLst/>
            <a:ahLst/>
            <a:cxnLst/>
            <a:rect r="r" b="b" t="t" l="l"/>
            <a:pathLst>
              <a:path h="4333217" w="9337845">
                <a:moveTo>
                  <a:pt x="0" y="0"/>
                </a:moveTo>
                <a:lnTo>
                  <a:pt x="9337845" y="0"/>
                </a:lnTo>
                <a:lnTo>
                  <a:pt x="9337845" y="4333217"/>
                </a:lnTo>
                <a:lnTo>
                  <a:pt x="0" y="43332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85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50155" y="6079502"/>
            <a:ext cx="9337845" cy="3700121"/>
          </a:xfrm>
          <a:custGeom>
            <a:avLst/>
            <a:gdLst/>
            <a:ahLst/>
            <a:cxnLst/>
            <a:rect r="r" b="b" t="t" l="l"/>
            <a:pathLst>
              <a:path h="3700121" w="9337845">
                <a:moveTo>
                  <a:pt x="0" y="0"/>
                </a:moveTo>
                <a:lnTo>
                  <a:pt x="9337845" y="0"/>
                </a:lnTo>
                <a:lnTo>
                  <a:pt x="9337845" y="3700121"/>
                </a:lnTo>
                <a:lnTo>
                  <a:pt x="0" y="3700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967"/>
            <a:ext cx="18288000" cy="3677755"/>
            <a:chOff x="0" y="0"/>
            <a:chExt cx="4816593" cy="968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68627"/>
            </a:xfrm>
            <a:custGeom>
              <a:avLst/>
              <a:gdLst/>
              <a:ahLst/>
              <a:cxnLst/>
              <a:rect r="r" b="b" t="t" l="l"/>
              <a:pathLst>
                <a:path h="96862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68627"/>
                  </a:lnTo>
                  <a:lnTo>
                    <a:pt x="0" y="968627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016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94416" y="2304756"/>
            <a:ext cx="11100978" cy="933654"/>
          </a:xfrm>
          <a:custGeom>
            <a:avLst/>
            <a:gdLst/>
            <a:ahLst/>
            <a:cxnLst/>
            <a:rect r="r" b="b" t="t" l="l"/>
            <a:pathLst>
              <a:path h="933654" w="11100978">
                <a:moveTo>
                  <a:pt x="0" y="0"/>
                </a:moveTo>
                <a:lnTo>
                  <a:pt x="11100978" y="0"/>
                </a:lnTo>
                <a:lnTo>
                  <a:pt x="11100978" y="933654"/>
                </a:lnTo>
                <a:lnTo>
                  <a:pt x="0" y="933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609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71091" y="285750"/>
            <a:ext cx="1054762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  <a:spcBef>
                <a:spcPct val="0"/>
              </a:spcBef>
            </a:pPr>
            <a:r>
              <a:rPr lang="en-US" b="true" sz="6000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Illustrative Example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5811" y="3540847"/>
            <a:ext cx="2005846" cy="59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3"/>
              </a:lnSpc>
              <a:spcBef>
                <a:spcPct val="0"/>
              </a:spcBef>
            </a:pPr>
            <a:r>
              <a:rPr lang="en-US" b="true" sz="3002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Iteration 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031026" y="4383225"/>
            <a:ext cx="5832144" cy="5758006"/>
          </a:xfrm>
          <a:custGeom>
            <a:avLst/>
            <a:gdLst/>
            <a:ahLst/>
            <a:cxnLst/>
            <a:rect r="r" b="b" t="t" l="l"/>
            <a:pathLst>
              <a:path h="5758006" w="5832144">
                <a:moveTo>
                  <a:pt x="0" y="0"/>
                </a:moveTo>
                <a:lnTo>
                  <a:pt x="5832144" y="0"/>
                </a:lnTo>
                <a:lnTo>
                  <a:pt x="5832144" y="5758007"/>
                </a:lnTo>
                <a:lnTo>
                  <a:pt x="0" y="5758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41640" y="4363969"/>
            <a:ext cx="6011233" cy="5777263"/>
          </a:xfrm>
          <a:custGeom>
            <a:avLst/>
            <a:gdLst/>
            <a:ahLst/>
            <a:cxnLst/>
            <a:rect r="r" b="b" t="t" l="l"/>
            <a:pathLst>
              <a:path h="5777263" w="6011233">
                <a:moveTo>
                  <a:pt x="0" y="0"/>
                </a:moveTo>
                <a:lnTo>
                  <a:pt x="6011232" y="0"/>
                </a:lnTo>
                <a:lnTo>
                  <a:pt x="6011232" y="5777263"/>
                </a:lnTo>
                <a:lnTo>
                  <a:pt x="0" y="5777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6121" y="330092"/>
            <a:ext cx="3781945" cy="86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3"/>
              </a:lnSpc>
              <a:spcBef>
                <a:spcPct val="0"/>
              </a:spcBef>
            </a:pPr>
            <a:r>
              <a:rPr lang="en-US" b="true" sz="4301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Iteration 2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479343" y="1738334"/>
            <a:ext cx="7367415" cy="6810332"/>
          </a:xfrm>
          <a:custGeom>
            <a:avLst/>
            <a:gdLst/>
            <a:ahLst/>
            <a:cxnLst/>
            <a:rect r="r" b="b" t="t" l="l"/>
            <a:pathLst>
              <a:path h="6810332" w="7367415">
                <a:moveTo>
                  <a:pt x="0" y="0"/>
                </a:moveTo>
                <a:lnTo>
                  <a:pt x="7367414" y="0"/>
                </a:lnTo>
                <a:lnTo>
                  <a:pt x="7367414" y="6810332"/>
                </a:lnTo>
                <a:lnTo>
                  <a:pt x="0" y="6810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33479" y="335803"/>
            <a:ext cx="3781945" cy="86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3"/>
              </a:lnSpc>
              <a:spcBef>
                <a:spcPct val="0"/>
              </a:spcBef>
            </a:pPr>
            <a:r>
              <a:rPr lang="en-US" b="true" sz="4301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Iteration 3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753383" y="2050225"/>
            <a:ext cx="6781235" cy="6610638"/>
          </a:xfrm>
          <a:custGeom>
            <a:avLst/>
            <a:gdLst/>
            <a:ahLst/>
            <a:cxnLst/>
            <a:rect r="r" b="b" t="t" l="l"/>
            <a:pathLst>
              <a:path h="6610638" w="6781235">
                <a:moveTo>
                  <a:pt x="0" y="0"/>
                </a:moveTo>
                <a:lnTo>
                  <a:pt x="6781234" y="0"/>
                </a:lnTo>
                <a:lnTo>
                  <a:pt x="6781234" y="6610637"/>
                </a:lnTo>
                <a:lnTo>
                  <a:pt x="0" y="6610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9650" y="504459"/>
            <a:ext cx="3781945" cy="86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3"/>
              </a:lnSpc>
              <a:spcBef>
                <a:spcPct val="0"/>
              </a:spcBef>
            </a:pPr>
            <a:r>
              <a:rPr lang="en-US" b="true" sz="4301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Iteration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59725" y="9048750"/>
            <a:ext cx="12130462" cy="86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3"/>
              </a:lnSpc>
              <a:spcBef>
                <a:spcPct val="0"/>
              </a:spcBef>
            </a:pPr>
            <a:r>
              <a:rPr lang="en-US" b="true" sz="4301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Final Total Weight = 13.30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539134" y="1839040"/>
            <a:ext cx="7371643" cy="6757340"/>
          </a:xfrm>
          <a:custGeom>
            <a:avLst/>
            <a:gdLst/>
            <a:ahLst/>
            <a:cxnLst/>
            <a:rect r="r" b="b" t="t" l="l"/>
            <a:pathLst>
              <a:path h="6757340" w="7371643">
                <a:moveTo>
                  <a:pt x="0" y="0"/>
                </a:moveTo>
                <a:lnTo>
                  <a:pt x="7371643" y="0"/>
                </a:lnTo>
                <a:lnTo>
                  <a:pt x="7371643" y="6757339"/>
                </a:lnTo>
                <a:lnTo>
                  <a:pt x="0" y="6757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94740" y="2164238"/>
            <a:ext cx="9562276" cy="1588669"/>
          </a:xfrm>
          <a:custGeom>
            <a:avLst/>
            <a:gdLst/>
            <a:ahLst/>
            <a:cxnLst/>
            <a:rect r="r" b="b" t="t" l="l"/>
            <a:pathLst>
              <a:path h="1588669" w="9562276">
                <a:moveTo>
                  <a:pt x="0" y="0"/>
                </a:moveTo>
                <a:lnTo>
                  <a:pt x="9562276" y="0"/>
                </a:lnTo>
                <a:lnTo>
                  <a:pt x="9562276" y="1588669"/>
                </a:lnTo>
                <a:lnTo>
                  <a:pt x="0" y="15886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84963" y="4312598"/>
            <a:ext cx="6814295" cy="5467025"/>
          </a:xfrm>
          <a:custGeom>
            <a:avLst/>
            <a:gdLst/>
            <a:ahLst/>
            <a:cxnLst/>
            <a:rect r="r" b="b" t="t" l="l"/>
            <a:pathLst>
              <a:path h="5467025" w="6814295">
                <a:moveTo>
                  <a:pt x="0" y="0"/>
                </a:moveTo>
                <a:lnTo>
                  <a:pt x="6814296" y="0"/>
                </a:lnTo>
                <a:lnTo>
                  <a:pt x="6814296" y="5467025"/>
                </a:lnTo>
                <a:lnTo>
                  <a:pt x="0" y="54670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02064" y="-28941"/>
            <a:ext cx="1054762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  <a:spcBef>
                <a:spcPct val="0"/>
              </a:spcBef>
            </a:pPr>
            <a:r>
              <a:rPr lang="en-US" b="true" sz="6000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Greedy VS DP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4312598"/>
            <a:ext cx="7462150" cy="5467025"/>
          </a:xfrm>
          <a:custGeom>
            <a:avLst/>
            <a:gdLst/>
            <a:ahLst/>
            <a:cxnLst/>
            <a:rect r="r" b="b" t="t" l="l"/>
            <a:pathLst>
              <a:path h="5467025" w="7462150">
                <a:moveTo>
                  <a:pt x="0" y="0"/>
                </a:moveTo>
                <a:lnTo>
                  <a:pt x="7462150" y="0"/>
                </a:lnTo>
                <a:lnTo>
                  <a:pt x="7462150" y="5467025"/>
                </a:lnTo>
                <a:lnTo>
                  <a:pt x="0" y="5467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9699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641083"/>
            <a:chOff x="0" y="0"/>
            <a:chExt cx="4816593" cy="958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958968"/>
            </a:xfrm>
            <a:custGeom>
              <a:avLst/>
              <a:gdLst/>
              <a:ahLst/>
              <a:cxnLst/>
              <a:rect r="r" b="b" t="t" l="l"/>
              <a:pathLst>
                <a:path h="95896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58968"/>
                  </a:lnTo>
                  <a:lnTo>
                    <a:pt x="0" y="958968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006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873766" y="4478071"/>
            <a:ext cx="9414234" cy="5036615"/>
          </a:xfrm>
          <a:custGeom>
            <a:avLst/>
            <a:gdLst/>
            <a:ahLst/>
            <a:cxnLst/>
            <a:rect r="r" b="b" t="t" l="l"/>
            <a:pathLst>
              <a:path h="5036615" w="9414234">
                <a:moveTo>
                  <a:pt x="0" y="0"/>
                </a:moveTo>
                <a:lnTo>
                  <a:pt x="9414234" y="0"/>
                </a:lnTo>
                <a:lnTo>
                  <a:pt x="9414234" y="5036615"/>
                </a:lnTo>
                <a:lnTo>
                  <a:pt x="0" y="50366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5042" y="4478071"/>
            <a:ext cx="8107228" cy="5036615"/>
          </a:xfrm>
          <a:custGeom>
            <a:avLst/>
            <a:gdLst/>
            <a:ahLst/>
            <a:cxnLst/>
            <a:rect r="r" b="b" t="t" l="l"/>
            <a:pathLst>
              <a:path h="5036615" w="8107228">
                <a:moveTo>
                  <a:pt x="0" y="0"/>
                </a:moveTo>
                <a:lnTo>
                  <a:pt x="8107228" y="0"/>
                </a:lnTo>
                <a:lnTo>
                  <a:pt x="8107228" y="5036615"/>
                </a:lnTo>
                <a:lnTo>
                  <a:pt x="0" y="5036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9620" y="1465849"/>
            <a:ext cx="15175483" cy="94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  <a:spcBef>
                <a:spcPct val="0"/>
              </a:spcBef>
            </a:pPr>
            <a:r>
              <a:rPr lang="en-US" b="true" sz="47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</a:t>
            </a:r>
            <a:r>
              <a:rPr lang="en-US" b="true" sz="47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oretical vs. Practical Performance Comparison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30898"/>
            <a:chOff x="0" y="0"/>
            <a:chExt cx="4816593" cy="6402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0237"/>
            </a:xfrm>
            <a:custGeom>
              <a:avLst/>
              <a:gdLst/>
              <a:ahLst/>
              <a:cxnLst/>
              <a:rect r="r" b="b" t="t" l="l"/>
              <a:pathLst>
                <a:path h="64023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0237"/>
                  </a:lnTo>
                  <a:lnTo>
                    <a:pt x="0" y="640237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687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842040" y="2865410"/>
            <a:ext cx="4862742" cy="2060587"/>
          </a:xfrm>
          <a:custGeom>
            <a:avLst/>
            <a:gdLst/>
            <a:ahLst/>
            <a:cxnLst/>
            <a:rect r="r" b="b" t="t" l="l"/>
            <a:pathLst>
              <a:path h="2060587" w="4862742">
                <a:moveTo>
                  <a:pt x="0" y="0"/>
                </a:moveTo>
                <a:lnTo>
                  <a:pt x="4862743" y="0"/>
                </a:lnTo>
                <a:lnTo>
                  <a:pt x="4862743" y="2060587"/>
                </a:lnTo>
                <a:lnTo>
                  <a:pt x="0" y="2060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65591" y="60616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Local Search Algorithm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657453"/>
            <a:ext cx="12326058" cy="5435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6" indent="-345438" lvl="1">
              <a:lnSpc>
                <a:spcPts val="5439"/>
              </a:lnSpc>
              <a:buFont typeface="Arial"/>
              <a:buChar char="•"/>
            </a:pPr>
            <a:r>
              <a:rPr lang="en-US" sz="31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Construct a </a:t>
            </a:r>
            <a:r>
              <a:rPr lang="en-US" sz="31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triangulation of n points and compute the triangulation cost.</a:t>
            </a:r>
          </a:p>
          <a:p>
            <a:pPr algn="l" marL="690876" indent="-345438" lvl="1">
              <a:lnSpc>
                <a:spcPts val="5439"/>
              </a:lnSpc>
              <a:buFont typeface="Arial"/>
              <a:buChar char="•"/>
            </a:pPr>
            <a:r>
              <a:rPr lang="en-US" sz="31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For each pair of adjacent triangles, purpose an edge flip (flip the diagonal). Now compute the triangulation cost.</a:t>
            </a:r>
          </a:p>
          <a:p>
            <a:pPr algn="l" marL="690876" indent="-345438" lvl="1">
              <a:lnSpc>
                <a:spcPts val="5439"/>
              </a:lnSpc>
              <a:buFont typeface="Arial"/>
              <a:buChar char="•"/>
            </a:pPr>
            <a:r>
              <a:rPr lang="en-US" sz="31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If it’s less than the previous one, then update the triangulation and the cost. </a:t>
            </a:r>
          </a:p>
          <a:p>
            <a:pPr algn="l" marL="690876" indent="-345438" lvl="1">
              <a:lnSpc>
                <a:spcPts val="5439"/>
              </a:lnSpc>
              <a:buFont typeface="Arial"/>
              <a:buChar char="•"/>
            </a:pPr>
            <a:r>
              <a:rPr lang="en-US" sz="31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Do this for all pair of adjacent triangles. Repeat this until no flip is performed.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279" y="8420100"/>
            <a:ext cx="16349448" cy="174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4199" b="true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Time complexity : O(n * I)</a:t>
            </a:r>
            <a:r>
              <a:rPr lang="en-US" sz="41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199" b="true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;</a:t>
            </a:r>
          </a:p>
          <a:p>
            <a:pPr algn="l">
              <a:lnSpc>
                <a:spcPts val="7139"/>
              </a:lnSpc>
              <a:spcBef>
                <a:spcPct val="0"/>
              </a:spcBef>
            </a:pPr>
            <a:r>
              <a:rPr lang="en-US" sz="4199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where I is the number of iterations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48663" y="2696936"/>
            <a:ext cx="8790675" cy="5630546"/>
          </a:xfrm>
          <a:custGeom>
            <a:avLst/>
            <a:gdLst/>
            <a:ahLst/>
            <a:cxnLst/>
            <a:rect r="r" b="b" t="t" l="l"/>
            <a:pathLst>
              <a:path h="5630546" w="8790675">
                <a:moveTo>
                  <a:pt x="0" y="0"/>
                </a:moveTo>
                <a:lnTo>
                  <a:pt x="8790674" y="0"/>
                </a:lnTo>
                <a:lnTo>
                  <a:pt x="8790674" y="5630547"/>
                </a:lnTo>
                <a:lnTo>
                  <a:pt x="0" y="5630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90452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Local Search Algorithm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50242" y="8496377"/>
            <a:ext cx="843723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  <a:spcBef>
                <a:spcPct val="0"/>
              </a:spcBef>
            </a:pPr>
            <a:r>
              <a:rPr lang="en-US" sz="4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Initial Triangulation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7775" y="2655256"/>
            <a:ext cx="8304615" cy="5640166"/>
          </a:xfrm>
          <a:custGeom>
            <a:avLst/>
            <a:gdLst/>
            <a:ahLst/>
            <a:cxnLst/>
            <a:rect r="r" b="b" t="t" l="l"/>
            <a:pathLst>
              <a:path h="5640166" w="8304615">
                <a:moveTo>
                  <a:pt x="0" y="0"/>
                </a:moveTo>
                <a:lnTo>
                  <a:pt x="8304614" y="0"/>
                </a:lnTo>
                <a:lnTo>
                  <a:pt x="8304614" y="5640165"/>
                </a:lnTo>
                <a:lnTo>
                  <a:pt x="0" y="56401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30204" y="2382508"/>
            <a:ext cx="4462075" cy="6185661"/>
          </a:xfrm>
          <a:custGeom>
            <a:avLst/>
            <a:gdLst/>
            <a:ahLst/>
            <a:cxnLst/>
            <a:rect r="r" b="b" t="t" l="l"/>
            <a:pathLst>
              <a:path h="6185661" w="4462075">
                <a:moveTo>
                  <a:pt x="0" y="0"/>
                </a:moveTo>
                <a:lnTo>
                  <a:pt x="4462075" y="0"/>
                </a:lnTo>
                <a:lnTo>
                  <a:pt x="4462075" y="6185661"/>
                </a:lnTo>
                <a:lnTo>
                  <a:pt x="0" y="6185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90452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Local Search Algorithm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25382" y="8705850"/>
            <a:ext cx="843723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  <a:spcBef>
                <a:spcPct val="0"/>
              </a:spcBef>
            </a:pPr>
            <a:r>
              <a:rPr lang="en-US" sz="4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1st iteration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84112" y="2782494"/>
            <a:ext cx="8388035" cy="5680658"/>
          </a:xfrm>
          <a:custGeom>
            <a:avLst/>
            <a:gdLst/>
            <a:ahLst/>
            <a:cxnLst/>
            <a:rect r="r" b="b" t="t" l="l"/>
            <a:pathLst>
              <a:path h="5680658" w="8388035">
                <a:moveTo>
                  <a:pt x="0" y="0"/>
                </a:moveTo>
                <a:lnTo>
                  <a:pt x="8388034" y="0"/>
                </a:lnTo>
                <a:lnTo>
                  <a:pt x="8388034" y="5680657"/>
                </a:lnTo>
                <a:lnTo>
                  <a:pt x="0" y="56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85915" y="2532872"/>
            <a:ext cx="4722709" cy="6179902"/>
          </a:xfrm>
          <a:custGeom>
            <a:avLst/>
            <a:gdLst/>
            <a:ahLst/>
            <a:cxnLst/>
            <a:rect r="r" b="b" t="t" l="l"/>
            <a:pathLst>
              <a:path h="6179902" w="4722709">
                <a:moveTo>
                  <a:pt x="0" y="0"/>
                </a:moveTo>
                <a:lnTo>
                  <a:pt x="4722709" y="0"/>
                </a:lnTo>
                <a:lnTo>
                  <a:pt x="4722709" y="6179902"/>
                </a:lnTo>
                <a:lnTo>
                  <a:pt x="0" y="6179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90452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Local Search Algorithm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25382" y="8705850"/>
            <a:ext cx="843723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  <a:spcBef>
                <a:spcPct val="0"/>
              </a:spcBef>
            </a:pPr>
            <a:r>
              <a:rPr lang="en-US" sz="4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2nd iteration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65674" y="2831236"/>
            <a:ext cx="8251717" cy="5656915"/>
          </a:xfrm>
          <a:custGeom>
            <a:avLst/>
            <a:gdLst/>
            <a:ahLst/>
            <a:cxnLst/>
            <a:rect r="r" b="b" t="t" l="l"/>
            <a:pathLst>
              <a:path h="5656915" w="8251717">
                <a:moveTo>
                  <a:pt x="0" y="0"/>
                </a:moveTo>
                <a:lnTo>
                  <a:pt x="8251717" y="0"/>
                </a:lnTo>
                <a:lnTo>
                  <a:pt x="8251717" y="5656915"/>
                </a:lnTo>
                <a:lnTo>
                  <a:pt x="0" y="5656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90507" y="2558270"/>
            <a:ext cx="4513525" cy="6202848"/>
          </a:xfrm>
          <a:custGeom>
            <a:avLst/>
            <a:gdLst/>
            <a:ahLst/>
            <a:cxnLst/>
            <a:rect r="r" b="b" t="t" l="l"/>
            <a:pathLst>
              <a:path h="6202848" w="4513525">
                <a:moveTo>
                  <a:pt x="0" y="0"/>
                </a:moveTo>
                <a:lnTo>
                  <a:pt x="4513525" y="0"/>
                </a:lnTo>
                <a:lnTo>
                  <a:pt x="4513525" y="6202847"/>
                </a:lnTo>
                <a:lnTo>
                  <a:pt x="0" y="6202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90452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Local Search Algorithm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25382" y="8705850"/>
            <a:ext cx="843723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  <a:spcBef>
                <a:spcPct val="0"/>
              </a:spcBef>
            </a:pPr>
            <a:r>
              <a:rPr lang="en-US" sz="4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3rd iteration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71329" y="2799144"/>
            <a:ext cx="8545343" cy="5647357"/>
          </a:xfrm>
          <a:custGeom>
            <a:avLst/>
            <a:gdLst/>
            <a:ahLst/>
            <a:cxnLst/>
            <a:rect r="r" b="b" t="t" l="l"/>
            <a:pathLst>
              <a:path h="5647357" w="8545343">
                <a:moveTo>
                  <a:pt x="0" y="0"/>
                </a:moveTo>
                <a:lnTo>
                  <a:pt x="8545342" y="0"/>
                </a:lnTo>
                <a:lnTo>
                  <a:pt x="8545342" y="5647357"/>
                </a:lnTo>
                <a:lnTo>
                  <a:pt x="0" y="564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90452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Local Search Algorithm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90452" y="8705850"/>
            <a:ext cx="10870721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  <a:spcBef>
                <a:spcPct val="0"/>
              </a:spcBef>
            </a:pPr>
            <a:r>
              <a:rPr lang="en-US" sz="4500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Final iteration (Optimal Triangulation)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99515" y="2784918"/>
            <a:ext cx="317365" cy="31736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13526" y="5289415"/>
            <a:ext cx="317365" cy="31736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54412" y="2467553"/>
            <a:ext cx="317365" cy="31736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26268" y="7276898"/>
            <a:ext cx="317365" cy="31736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24277" y="2784918"/>
            <a:ext cx="317365" cy="31736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94690" y="5543348"/>
            <a:ext cx="317365" cy="31736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45323" y="4813367"/>
            <a:ext cx="317365" cy="31736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654412" y="3441767"/>
            <a:ext cx="317365" cy="31736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447825" y="4972050"/>
            <a:ext cx="317365" cy="31736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892489" y="4375015"/>
            <a:ext cx="317365" cy="31736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71777" y="7435580"/>
            <a:ext cx="317365" cy="31736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765190" y="3600450"/>
            <a:ext cx="317365" cy="31736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575124" y="2626236"/>
            <a:ext cx="317365" cy="31736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274263" y="6661015"/>
            <a:ext cx="317365" cy="31736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924277" y="8888551"/>
            <a:ext cx="317365" cy="317365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860999" y="8729868"/>
            <a:ext cx="317365" cy="317365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502571" y="3441767"/>
            <a:ext cx="317365" cy="317365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44000" y="3568634"/>
            <a:ext cx="317365" cy="317365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661254" y="8108951"/>
            <a:ext cx="317365" cy="31736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686641" y="3600450"/>
            <a:ext cx="317365" cy="317365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845323" y="9205916"/>
            <a:ext cx="317365" cy="317365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61365" y="8729868"/>
            <a:ext cx="317365" cy="317365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3961877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Grid Based Algorithm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11135" y="1978600"/>
            <a:ext cx="9465730" cy="8150343"/>
            <a:chOff x="0" y="0"/>
            <a:chExt cx="2493032" cy="214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3032" cy="2146592"/>
            </a:xfrm>
            <a:custGeom>
              <a:avLst/>
              <a:gdLst/>
              <a:ahLst/>
              <a:cxnLst/>
              <a:rect r="r" b="b" t="t" l="l"/>
              <a:pathLst>
                <a:path h="2146592" w="2493032">
                  <a:moveTo>
                    <a:pt x="0" y="0"/>
                  </a:moveTo>
                  <a:lnTo>
                    <a:pt x="2493032" y="0"/>
                  </a:lnTo>
                  <a:lnTo>
                    <a:pt x="2493032" y="2146592"/>
                  </a:lnTo>
                  <a:lnTo>
                    <a:pt x="0" y="2146592"/>
                  </a:lnTo>
                  <a:close/>
                </a:path>
              </a:pathLst>
            </a:custGeom>
            <a:solidFill>
              <a:srgbClr val="F8F8F8"/>
            </a:solidFill>
            <a:ln w="38100" cap="sq">
              <a:solidFill>
                <a:srgbClr val="0F466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493032" cy="22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48773" y="2806324"/>
            <a:ext cx="317365" cy="31736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862784" y="5310821"/>
            <a:ext cx="317365" cy="31736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03670" y="2488959"/>
            <a:ext cx="317365" cy="31736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75526" y="7298304"/>
            <a:ext cx="317365" cy="31736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373535" y="2806324"/>
            <a:ext cx="317365" cy="31736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43948" y="5564754"/>
            <a:ext cx="317365" cy="31736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94581" y="4834773"/>
            <a:ext cx="317365" cy="31736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03670" y="3463173"/>
            <a:ext cx="317365" cy="31736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97083" y="4993456"/>
            <a:ext cx="317365" cy="31736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341747" y="4396421"/>
            <a:ext cx="317365" cy="31736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421035" y="7456986"/>
            <a:ext cx="317365" cy="31736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14448" y="3621856"/>
            <a:ext cx="317365" cy="31736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024382" y="2647642"/>
            <a:ext cx="317365" cy="31736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723521" y="6682421"/>
            <a:ext cx="317365" cy="317365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373535" y="8909957"/>
            <a:ext cx="317365" cy="317365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310257" y="8751274"/>
            <a:ext cx="317365" cy="317365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951829" y="3463173"/>
            <a:ext cx="317365" cy="317365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93258" y="3590040"/>
            <a:ext cx="317365" cy="31736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110512" y="8130357"/>
            <a:ext cx="317365" cy="317365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135899" y="3621856"/>
            <a:ext cx="317365" cy="317365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294581" y="9227322"/>
            <a:ext cx="317365" cy="317365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910623" y="8751274"/>
            <a:ext cx="317365" cy="317365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3990452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Grid Based Algorithm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11135" y="1957194"/>
            <a:ext cx="9465730" cy="8150343"/>
            <a:chOff x="0" y="0"/>
            <a:chExt cx="2493032" cy="214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3032" cy="2146592"/>
            </a:xfrm>
            <a:custGeom>
              <a:avLst/>
              <a:gdLst/>
              <a:ahLst/>
              <a:cxnLst/>
              <a:rect r="r" b="b" t="t" l="l"/>
              <a:pathLst>
                <a:path h="2146592" w="2493032">
                  <a:moveTo>
                    <a:pt x="0" y="0"/>
                  </a:moveTo>
                  <a:lnTo>
                    <a:pt x="2493032" y="0"/>
                  </a:lnTo>
                  <a:lnTo>
                    <a:pt x="2493032" y="2146592"/>
                  </a:lnTo>
                  <a:lnTo>
                    <a:pt x="0" y="2146592"/>
                  </a:lnTo>
                  <a:close/>
                </a:path>
              </a:pathLst>
            </a:custGeom>
            <a:solidFill>
              <a:srgbClr val="F8F8F8"/>
            </a:solidFill>
            <a:ln w="38100" cap="sq">
              <a:solidFill>
                <a:srgbClr val="0F466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493032" cy="22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4411135" y="6032365"/>
            <a:ext cx="93895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9067800" y="1957194"/>
            <a:ext cx="76200" cy="81503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348773" y="2784918"/>
            <a:ext cx="317365" cy="3173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62784" y="5289415"/>
            <a:ext cx="317365" cy="31736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103670" y="2467553"/>
            <a:ext cx="317365" cy="31736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675526" y="7276898"/>
            <a:ext cx="317365" cy="31736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373535" y="2784918"/>
            <a:ext cx="317365" cy="31736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43948" y="5543348"/>
            <a:ext cx="317365" cy="31736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294581" y="4813367"/>
            <a:ext cx="317365" cy="317365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03670" y="3441767"/>
            <a:ext cx="317365" cy="317365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897083" y="4972050"/>
            <a:ext cx="317365" cy="31736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341747" y="4375015"/>
            <a:ext cx="317365" cy="31736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421035" y="7435580"/>
            <a:ext cx="317365" cy="317365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14448" y="3600450"/>
            <a:ext cx="317365" cy="317365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024382" y="2626236"/>
            <a:ext cx="317365" cy="317365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723521" y="6661015"/>
            <a:ext cx="317365" cy="317365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373535" y="8888551"/>
            <a:ext cx="317365" cy="317365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310257" y="8729868"/>
            <a:ext cx="317365" cy="317365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951829" y="3441767"/>
            <a:ext cx="317365" cy="317365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593258" y="3568634"/>
            <a:ext cx="317365" cy="317365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110512" y="8108951"/>
            <a:ext cx="317365" cy="317365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135899" y="3600450"/>
            <a:ext cx="317365" cy="317365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294581" y="9205916"/>
            <a:ext cx="317365" cy="317365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910623" y="8729868"/>
            <a:ext cx="317365" cy="317365"/>
            <a:chOff x="0" y="0"/>
            <a:chExt cx="812800" cy="812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3961877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Grid Based Algorithm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11208" y="1957194"/>
            <a:ext cx="9465730" cy="8150343"/>
            <a:chOff x="0" y="0"/>
            <a:chExt cx="2493032" cy="214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3032" cy="2146592"/>
            </a:xfrm>
            <a:custGeom>
              <a:avLst/>
              <a:gdLst/>
              <a:ahLst/>
              <a:cxnLst/>
              <a:rect r="r" b="b" t="t" l="l"/>
              <a:pathLst>
                <a:path h="2146592" w="2493032">
                  <a:moveTo>
                    <a:pt x="0" y="0"/>
                  </a:moveTo>
                  <a:lnTo>
                    <a:pt x="2493032" y="0"/>
                  </a:lnTo>
                  <a:lnTo>
                    <a:pt x="2493032" y="2146592"/>
                  </a:lnTo>
                  <a:lnTo>
                    <a:pt x="0" y="2146592"/>
                  </a:lnTo>
                  <a:close/>
                </a:path>
              </a:pathLst>
            </a:custGeom>
            <a:solidFill>
              <a:srgbClr val="F8F8F8"/>
            </a:solidFill>
            <a:ln w="38100" cap="sq">
              <a:solidFill>
                <a:srgbClr val="0F466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493032" cy="22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9106120" y="4057448"/>
            <a:ext cx="4732865" cy="36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4411208" y="4076498"/>
            <a:ext cx="4732865" cy="36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411208" y="6032365"/>
            <a:ext cx="93895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436704" y="1957128"/>
            <a:ext cx="9525" cy="4094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9067873" y="1957194"/>
            <a:ext cx="76200" cy="81503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741793" y="1957172"/>
            <a:ext cx="9525" cy="4094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348846" y="2784918"/>
            <a:ext cx="317365" cy="31736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62857" y="5289415"/>
            <a:ext cx="317365" cy="31736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03743" y="2467553"/>
            <a:ext cx="317365" cy="31736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75599" y="7276898"/>
            <a:ext cx="317365" cy="31736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373608" y="2784918"/>
            <a:ext cx="317365" cy="31736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44021" y="5543348"/>
            <a:ext cx="317365" cy="31736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94655" y="4813367"/>
            <a:ext cx="317365" cy="31736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03743" y="3441767"/>
            <a:ext cx="317365" cy="31736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97156" y="4972050"/>
            <a:ext cx="317365" cy="31736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41820" y="4375015"/>
            <a:ext cx="317365" cy="31736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421108" y="7435580"/>
            <a:ext cx="317365" cy="31736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14521" y="3600450"/>
            <a:ext cx="317365" cy="317365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024455" y="2626236"/>
            <a:ext cx="317365" cy="317365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723594" y="6661015"/>
            <a:ext cx="317365" cy="317365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373608" y="8888551"/>
            <a:ext cx="317365" cy="317365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10330" y="8729868"/>
            <a:ext cx="317365" cy="31736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51902" y="3441767"/>
            <a:ext cx="317365" cy="317365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93331" y="3568634"/>
            <a:ext cx="317365" cy="317365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110585" y="8108951"/>
            <a:ext cx="317365" cy="317365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135972" y="3600450"/>
            <a:ext cx="317365" cy="317365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294655" y="9205916"/>
            <a:ext cx="317365" cy="317365"/>
            <a:chOff x="0" y="0"/>
            <a:chExt cx="81280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910696" y="8729868"/>
            <a:ext cx="317365" cy="317365"/>
            <a:chOff x="0" y="0"/>
            <a:chExt cx="81280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3961877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Grid Based Algorithm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11208" y="1850164"/>
            <a:ext cx="9465730" cy="8150343"/>
            <a:chOff x="0" y="0"/>
            <a:chExt cx="2493032" cy="214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3032" cy="2146592"/>
            </a:xfrm>
            <a:custGeom>
              <a:avLst/>
              <a:gdLst/>
              <a:ahLst/>
              <a:cxnLst/>
              <a:rect r="r" b="b" t="t" l="l"/>
              <a:pathLst>
                <a:path h="2146592" w="2493032">
                  <a:moveTo>
                    <a:pt x="0" y="0"/>
                  </a:moveTo>
                  <a:lnTo>
                    <a:pt x="2493032" y="0"/>
                  </a:lnTo>
                  <a:lnTo>
                    <a:pt x="2493032" y="2146592"/>
                  </a:lnTo>
                  <a:lnTo>
                    <a:pt x="0" y="2146592"/>
                  </a:lnTo>
                  <a:close/>
                </a:path>
              </a:pathLst>
            </a:custGeom>
            <a:solidFill>
              <a:srgbClr val="F8F8F8"/>
            </a:solidFill>
            <a:ln w="38100" cap="sq">
              <a:solidFill>
                <a:srgbClr val="0F466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493032" cy="22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9106120" y="3950419"/>
            <a:ext cx="4732865" cy="36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4411208" y="3969468"/>
            <a:ext cx="4732865" cy="36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411208" y="5925336"/>
            <a:ext cx="93895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436704" y="1850098"/>
            <a:ext cx="9525" cy="4094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9067873" y="1850164"/>
            <a:ext cx="76200" cy="81503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741793" y="1850143"/>
            <a:ext cx="9525" cy="4094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348846" y="2677889"/>
            <a:ext cx="317365" cy="31736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62857" y="5182386"/>
            <a:ext cx="317365" cy="31736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03743" y="2360524"/>
            <a:ext cx="317365" cy="31736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75599" y="7169868"/>
            <a:ext cx="317365" cy="31736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373608" y="2677889"/>
            <a:ext cx="317365" cy="31736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44021" y="5436318"/>
            <a:ext cx="317365" cy="31736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94655" y="4706338"/>
            <a:ext cx="317365" cy="31736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03743" y="3334738"/>
            <a:ext cx="317365" cy="31736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97156" y="4865020"/>
            <a:ext cx="317365" cy="31736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41820" y="4267986"/>
            <a:ext cx="317365" cy="31736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421108" y="7328551"/>
            <a:ext cx="317365" cy="31736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14521" y="3493420"/>
            <a:ext cx="317365" cy="317365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024455" y="2519206"/>
            <a:ext cx="317365" cy="317365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723594" y="6553986"/>
            <a:ext cx="317365" cy="317365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373608" y="8781522"/>
            <a:ext cx="317365" cy="317365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10330" y="8622839"/>
            <a:ext cx="317365" cy="31736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51902" y="3334738"/>
            <a:ext cx="317365" cy="317365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93331" y="3461604"/>
            <a:ext cx="317365" cy="317365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110585" y="8001921"/>
            <a:ext cx="317365" cy="317365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135972" y="3493420"/>
            <a:ext cx="317365" cy="317365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294655" y="9098887"/>
            <a:ext cx="317365" cy="317365"/>
            <a:chOff x="0" y="0"/>
            <a:chExt cx="81280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910696" y="8622839"/>
            <a:ext cx="317365" cy="317365"/>
            <a:chOff x="0" y="0"/>
            <a:chExt cx="81280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0" id="80"/>
          <p:cNvSpPr/>
          <p:nvPr/>
        </p:nvSpPr>
        <p:spPr>
          <a:xfrm>
            <a:off x="5500503" y="4386833"/>
            <a:ext cx="444976" cy="81493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flipH="true">
            <a:off x="7265179" y="2499292"/>
            <a:ext cx="14499" cy="83547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flipH="true">
            <a:off x="8414968" y="2816326"/>
            <a:ext cx="186184" cy="68264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flipH="true" flipV="true">
            <a:off x="7416409" y="2557690"/>
            <a:ext cx="961897" cy="24039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flipH="true" flipV="true">
            <a:off x="7319791" y="3512265"/>
            <a:ext cx="1092386" cy="16177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flipH="true">
            <a:off x="9861359" y="2816657"/>
            <a:ext cx="654797" cy="688634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flipH="true" flipV="true">
            <a:off x="10554192" y="2824463"/>
            <a:ext cx="454919" cy="546955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flipH="true">
            <a:off x="9910019" y="3508175"/>
            <a:ext cx="1042560" cy="9735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flipH="true" flipV="true">
            <a:off x="5742079" y="7347116"/>
            <a:ext cx="1679481" cy="128053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 flipH="true" flipV="true">
            <a:off x="6477678" y="8836517"/>
            <a:ext cx="1896128" cy="9568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flipH="true" flipV="true">
            <a:off x="5863810" y="7347577"/>
            <a:ext cx="543484" cy="128771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flipH="true" flipV="true">
            <a:off x="7596809" y="7439539"/>
            <a:ext cx="851525" cy="136598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flipH="true" flipV="true">
            <a:off x="11896735" y="6652906"/>
            <a:ext cx="523435" cy="244945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flipV="true">
            <a:off x="10175674" y="6716510"/>
            <a:ext cx="1756709" cy="194719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>
            <a:off x="10225019" y="8812601"/>
            <a:ext cx="2072678" cy="41388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5" id="95"/>
          <p:cNvSpPr txBox="true"/>
          <p:nvPr/>
        </p:nvSpPr>
        <p:spPr>
          <a:xfrm rot="0">
            <a:off x="3961877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Grid Based Algorithm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11208" y="1993866"/>
            <a:ext cx="9465730" cy="8150343"/>
            <a:chOff x="0" y="0"/>
            <a:chExt cx="2493032" cy="214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3032" cy="2146592"/>
            </a:xfrm>
            <a:custGeom>
              <a:avLst/>
              <a:gdLst/>
              <a:ahLst/>
              <a:cxnLst/>
              <a:rect r="r" b="b" t="t" l="l"/>
              <a:pathLst>
                <a:path h="2146592" w="2493032">
                  <a:moveTo>
                    <a:pt x="0" y="0"/>
                  </a:moveTo>
                  <a:lnTo>
                    <a:pt x="2493032" y="0"/>
                  </a:lnTo>
                  <a:lnTo>
                    <a:pt x="2493032" y="2146592"/>
                  </a:lnTo>
                  <a:lnTo>
                    <a:pt x="0" y="2146592"/>
                  </a:lnTo>
                  <a:close/>
                </a:path>
              </a:pathLst>
            </a:custGeom>
            <a:solidFill>
              <a:srgbClr val="F8F8F8"/>
            </a:solidFill>
            <a:ln w="38100" cap="sq">
              <a:solidFill>
                <a:srgbClr val="0F466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493032" cy="22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9106120" y="4094121"/>
            <a:ext cx="4732865" cy="36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4411208" y="4113170"/>
            <a:ext cx="4732865" cy="36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411208" y="6069037"/>
            <a:ext cx="93895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436704" y="1993800"/>
            <a:ext cx="9525" cy="4094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9067873" y="1993866"/>
            <a:ext cx="76200" cy="81503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741793" y="1993844"/>
            <a:ext cx="9525" cy="4094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348846" y="2821591"/>
            <a:ext cx="317365" cy="31736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62857" y="5326087"/>
            <a:ext cx="317365" cy="31736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03743" y="2504225"/>
            <a:ext cx="317365" cy="31736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75599" y="7313570"/>
            <a:ext cx="317365" cy="31736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373608" y="2821591"/>
            <a:ext cx="317365" cy="31736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44021" y="5580020"/>
            <a:ext cx="317365" cy="31736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94655" y="4850040"/>
            <a:ext cx="317365" cy="31736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03743" y="3478440"/>
            <a:ext cx="317365" cy="31736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97156" y="5008722"/>
            <a:ext cx="317365" cy="31736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41820" y="4411687"/>
            <a:ext cx="317365" cy="31736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421108" y="7472253"/>
            <a:ext cx="317365" cy="31736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38625" y="3637122"/>
            <a:ext cx="317365" cy="317365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024455" y="2662908"/>
            <a:ext cx="317365" cy="317365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723594" y="6697687"/>
            <a:ext cx="317365" cy="317365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373608" y="8925223"/>
            <a:ext cx="317365" cy="317365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10330" y="8766541"/>
            <a:ext cx="317365" cy="31736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51902" y="3478440"/>
            <a:ext cx="317365" cy="317365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93331" y="3605306"/>
            <a:ext cx="317365" cy="317365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110585" y="8145623"/>
            <a:ext cx="317365" cy="317365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135972" y="3637122"/>
            <a:ext cx="317365" cy="317365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294655" y="9242588"/>
            <a:ext cx="317365" cy="317365"/>
            <a:chOff x="0" y="0"/>
            <a:chExt cx="81280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910696" y="8766541"/>
            <a:ext cx="317365" cy="317365"/>
            <a:chOff x="0" y="0"/>
            <a:chExt cx="81280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0" id="80"/>
          <p:cNvSpPr/>
          <p:nvPr/>
        </p:nvSpPr>
        <p:spPr>
          <a:xfrm>
            <a:off x="5500503" y="4530535"/>
            <a:ext cx="444976" cy="81493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flipH="true">
            <a:off x="7265179" y="2642993"/>
            <a:ext cx="14499" cy="83547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flipH="true">
            <a:off x="8434916" y="2960028"/>
            <a:ext cx="166236" cy="68157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flipH="true" flipV="true">
            <a:off x="7416409" y="2701392"/>
            <a:ext cx="961897" cy="24039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flipH="true" flipV="true">
            <a:off x="7319791" y="3655967"/>
            <a:ext cx="1092386" cy="16177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flipH="true">
            <a:off x="9861359" y="2960359"/>
            <a:ext cx="654797" cy="688634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flipH="true" flipV="true">
            <a:off x="10554192" y="2968165"/>
            <a:ext cx="454919" cy="546955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flipH="true">
            <a:off x="9910019" y="3651877"/>
            <a:ext cx="1042560" cy="9735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flipH="true" flipV="true">
            <a:off x="5742079" y="7490817"/>
            <a:ext cx="1679481" cy="128053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 flipH="true" flipV="true">
            <a:off x="6477678" y="8980219"/>
            <a:ext cx="1896128" cy="9568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flipH="true" flipV="true">
            <a:off x="5863810" y="7491279"/>
            <a:ext cx="543484" cy="128771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flipH="true" flipV="true">
            <a:off x="7596809" y="7583241"/>
            <a:ext cx="851525" cy="136598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flipH="true" flipV="true">
            <a:off x="11896735" y="6796608"/>
            <a:ext cx="523435" cy="244945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flipV="true">
            <a:off x="10175674" y="6860212"/>
            <a:ext cx="1756709" cy="194719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>
            <a:off x="10225019" y="8956303"/>
            <a:ext cx="2072678" cy="41388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 flipV="true">
            <a:off x="11331148" y="7002534"/>
            <a:ext cx="489247" cy="115560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flipV="true">
            <a:off x="10078609" y="8381941"/>
            <a:ext cx="1052232" cy="590137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>
            <a:off x="11385673" y="8412148"/>
            <a:ext cx="951258" cy="88128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>
            <a:off x="7343376" y="2642993"/>
            <a:ext cx="946860" cy="1035695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9" id="99"/>
          <p:cNvSpPr txBox="true"/>
          <p:nvPr/>
        </p:nvSpPr>
        <p:spPr>
          <a:xfrm rot="0">
            <a:off x="3989464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Grid Based Algorithm</a:t>
            </a:r>
          </a:p>
        </p:txBody>
      </p:sp>
      <p:sp>
        <p:nvSpPr>
          <p:cNvPr name="AutoShape 100" id="100"/>
          <p:cNvSpPr/>
          <p:nvPr/>
        </p:nvSpPr>
        <p:spPr>
          <a:xfrm flipH="true">
            <a:off x="6448183" y="7677497"/>
            <a:ext cx="1031315" cy="1264583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11208" y="1917452"/>
            <a:ext cx="9465730" cy="8150343"/>
            <a:chOff x="0" y="0"/>
            <a:chExt cx="2493032" cy="214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3032" cy="2146592"/>
            </a:xfrm>
            <a:custGeom>
              <a:avLst/>
              <a:gdLst/>
              <a:ahLst/>
              <a:cxnLst/>
              <a:rect r="r" b="b" t="t" l="l"/>
              <a:pathLst>
                <a:path h="2146592" w="2493032">
                  <a:moveTo>
                    <a:pt x="0" y="0"/>
                  </a:moveTo>
                  <a:lnTo>
                    <a:pt x="2493032" y="0"/>
                  </a:lnTo>
                  <a:lnTo>
                    <a:pt x="2493032" y="2146592"/>
                  </a:lnTo>
                  <a:lnTo>
                    <a:pt x="0" y="2146592"/>
                  </a:lnTo>
                  <a:close/>
                </a:path>
              </a:pathLst>
            </a:custGeom>
            <a:solidFill>
              <a:srgbClr val="F8F8F8"/>
            </a:solidFill>
            <a:ln w="38100" cap="sq">
              <a:solidFill>
                <a:srgbClr val="0F466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493032" cy="22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9106120" y="4017706"/>
            <a:ext cx="4732865" cy="36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4411208" y="4036756"/>
            <a:ext cx="4732865" cy="36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411208" y="5992623"/>
            <a:ext cx="93895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436704" y="1917386"/>
            <a:ext cx="9525" cy="4094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9067873" y="1917452"/>
            <a:ext cx="76200" cy="81503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741793" y="1917430"/>
            <a:ext cx="9525" cy="4094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348846" y="2745176"/>
            <a:ext cx="317365" cy="31736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62857" y="5249673"/>
            <a:ext cx="317365" cy="31736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03743" y="2427811"/>
            <a:ext cx="317365" cy="31736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75599" y="7237156"/>
            <a:ext cx="317365" cy="31736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373608" y="2745176"/>
            <a:ext cx="317365" cy="31736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44021" y="5503606"/>
            <a:ext cx="317365" cy="31736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94655" y="4773625"/>
            <a:ext cx="317365" cy="31736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03743" y="3402025"/>
            <a:ext cx="317365" cy="31736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97156" y="4932308"/>
            <a:ext cx="317365" cy="31736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41820" y="4335273"/>
            <a:ext cx="317365" cy="31736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421108" y="7395838"/>
            <a:ext cx="317365" cy="31736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14521" y="3560708"/>
            <a:ext cx="317365" cy="317365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024455" y="2586494"/>
            <a:ext cx="317365" cy="317365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723594" y="6621273"/>
            <a:ext cx="317365" cy="317365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373608" y="8848809"/>
            <a:ext cx="317365" cy="317365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10330" y="8690126"/>
            <a:ext cx="317365" cy="31736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51902" y="3402025"/>
            <a:ext cx="317365" cy="317365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93331" y="3528892"/>
            <a:ext cx="317365" cy="317365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110585" y="8069209"/>
            <a:ext cx="317365" cy="317365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135972" y="3560708"/>
            <a:ext cx="317365" cy="317365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294655" y="9166174"/>
            <a:ext cx="317365" cy="317365"/>
            <a:chOff x="0" y="0"/>
            <a:chExt cx="81280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910696" y="8690126"/>
            <a:ext cx="317365" cy="317365"/>
            <a:chOff x="0" y="0"/>
            <a:chExt cx="81280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0" id="80"/>
          <p:cNvSpPr/>
          <p:nvPr/>
        </p:nvSpPr>
        <p:spPr>
          <a:xfrm>
            <a:off x="5500503" y="4454120"/>
            <a:ext cx="444976" cy="81493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flipH="true">
            <a:off x="7265179" y="2566579"/>
            <a:ext cx="14499" cy="83547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flipH="true">
            <a:off x="8414968" y="2883614"/>
            <a:ext cx="186184" cy="68264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flipH="true" flipV="true">
            <a:off x="7416409" y="2624977"/>
            <a:ext cx="961897" cy="24039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flipH="true" flipV="true">
            <a:off x="7319791" y="3579552"/>
            <a:ext cx="1092386" cy="16177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flipH="true">
            <a:off x="9861359" y="2883944"/>
            <a:ext cx="654797" cy="688634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flipH="true" flipV="true">
            <a:off x="10554192" y="2891750"/>
            <a:ext cx="454919" cy="546955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flipH="true">
            <a:off x="9910019" y="3575463"/>
            <a:ext cx="1042560" cy="9735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flipH="true" flipV="true">
            <a:off x="5742079" y="7414403"/>
            <a:ext cx="1679481" cy="128053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 flipH="true" flipV="true">
            <a:off x="6477678" y="8903805"/>
            <a:ext cx="1896128" cy="9568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flipH="true" flipV="true">
            <a:off x="5863810" y="7414864"/>
            <a:ext cx="543484" cy="128771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flipH="true" flipV="true">
            <a:off x="7596809" y="7506826"/>
            <a:ext cx="851525" cy="136598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flipH="true" flipV="true">
            <a:off x="11896735" y="6720194"/>
            <a:ext cx="523435" cy="244945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flipV="true">
            <a:off x="10175674" y="6783798"/>
            <a:ext cx="1756709" cy="194719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>
            <a:off x="10225019" y="8879888"/>
            <a:ext cx="2072678" cy="41388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 flipV="true">
            <a:off x="11331148" y="6926120"/>
            <a:ext cx="489247" cy="115560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flipV="true">
            <a:off x="10078609" y="8305527"/>
            <a:ext cx="1052232" cy="590137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>
            <a:off x="11385673" y="8335734"/>
            <a:ext cx="951258" cy="88128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8" id="98"/>
          <p:cNvGrpSpPr/>
          <p:nvPr/>
        </p:nvGrpSpPr>
        <p:grpSpPr>
          <a:xfrm rot="0">
            <a:off x="7596809" y="3878073"/>
            <a:ext cx="465725" cy="945411"/>
            <a:chOff x="0" y="0"/>
            <a:chExt cx="476992" cy="96828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76992" cy="968283"/>
            </a:xfrm>
            <a:custGeom>
              <a:avLst/>
              <a:gdLst/>
              <a:ahLst/>
              <a:cxnLst/>
              <a:rect r="r" b="b" t="t" l="l"/>
              <a:pathLst>
                <a:path h="968283" w="476992">
                  <a:moveTo>
                    <a:pt x="238496" y="968283"/>
                  </a:moveTo>
                  <a:lnTo>
                    <a:pt x="0" y="561883"/>
                  </a:lnTo>
                  <a:lnTo>
                    <a:pt x="203200" y="561883"/>
                  </a:lnTo>
                  <a:lnTo>
                    <a:pt x="203200" y="0"/>
                  </a:lnTo>
                  <a:lnTo>
                    <a:pt x="273792" y="0"/>
                  </a:lnTo>
                  <a:lnTo>
                    <a:pt x="273792" y="561883"/>
                  </a:lnTo>
                  <a:lnTo>
                    <a:pt x="476992" y="561883"/>
                  </a:lnTo>
                  <a:lnTo>
                    <a:pt x="238496" y="968283"/>
                  </a:lnTo>
                  <a:close/>
                </a:path>
              </a:pathLst>
            </a:custGeom>
            <a:solidFill>
              <a:srgbClr val="F0137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0" id="100"/>
            <p:cNvSpPr txBox="true"/>
            <p:nvPr/>
          </p:nvSpPr>
          <p:spPr>
            <a:xfrm>
              <a:off x="203200" y="-123825"/>
              <a:ext cx="70592" cy="990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01" id="101"/>
          <p:cNvGrpSpPr/>
          <p:nvPr/>
        </p:nvGrpSpPr>
        <p:grpSpPr>
          <a:xfrm rot="-5400000">
            <a:off x="9036401" y="2733137"/>
            <a:ext cx="465725" cy="945411"/>
            <a:chOff x="0" y="0"/>
            <a:chExt cx="476992" cy="96828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76992" cy="968283"/>
            </a:xfrm>
            <a:custGeom>
              <a:avLst/>
              <a:gdLst/>
              <a:ahLst/>
              <a:cxnLst/>
              <a:rect r="r" b="b" t="t" l="l"/>
              <a:pathLst>
                <a:path h="968283" w="476992">
                  <a:moveTo>
                    <a:pt x="238496" y="968283"/>
                  </a:moveTo>
                  <a:lnTo>
                    <a:pt x="0" y="561883"/>
                  </a:lnTo>
                  <a:lnTo>
                    <a:pt x="203200" y="561883"/>
                  </a:lnTo>
                  <a:lnTo>
                    <a:pt x="203200" y="0"/>
                  </a:lnTo>
                  <a:lnTo>
                    <a:pt x="273792" y="0"/>
                  </a:lnTo>
                  <a:lnTo>
                    <a:pt x="273792" y="561883"/>
                  </a:lnTo>
                  <a:lnTo>
                    <a:pt x="476992" y="561883"/>
                  </a:lnTo>
                  <a:lnTo>
                    <a:pt x="238496" y="968283"/>
                  </a:lnTo>
                  <a:close/>
                </a:path>
              </a:pathLst>
            </a:custGeom>
            <a:solidFill>
              <a:srgbClr val="F0137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3" id="103"/>
            <p:cNvSpPr txBox="true"/>
            <p:nvPr/>
          </p:nvSpPr>
          <p:spPr>
            <a:xfrm>
              <a:off x="203200" y="-123825"/>
              <a:ext cx="70592" cy="990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04" id="104"/>
          <p:cNvGrpSpPr/>
          <p:nvPr/>
        </p:nvGrpSpPr>
        <p:grpSpPr>
          <a:xfrm rot="5400000">
            <a:off x="6244816" y="2505333"/>
            <a:ext cx="465725" cy="945411"/>
            <a:chOff x="0" y="0"/>
            <a:chExt cx="476992" cy="96828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76992" cy="968283"/>
            </a:xfrm>
            <a:custGeom>
              <a:avLst/>
              <a:gdLst/>
              <a:ahLst/>
              <a:cxnLst/>
              <a:rect r="r" b="b" t="t" l="l"/>
              <a:pathLst>
                <a:path h="968283" w="476992">
                  <a:moveTo>
                    <a:pt x="238496" y="968283"/>
                  </a:moveTo>
                  <a:lnTo>
                    <a:pt x="0" y="561883"/>
                  </a:lnTo>
                  <a:lnTo>
                    <a:pt x="203200" y="561883"/>
                  </a:lnTo>
                  <a:lnTo>
                    <a:pt x="203200" y="0"/>
                  </a:lnTo>
                  <a:lnTo>
                    <a:pt x="273792" y="0"/>
                  </a:lnTo>
                  <a:lnTo>
                    <a:pt x="273792" y="561883"/>
                  </a:lnTo>
                  <a:lnTo>
                    <a:pt x="476992" y="561883"/>
                  </a:lnTo>
                  <a:lnTo>
                    <a:pt x="238496" y="968283"/>
                  </a:lnTo>
                  <a:close/>
                </a:path>
              </a:pathLst>
            </a:custGeom>
            <a:solidFill>
              <a:srgbClr val="F0137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6" id="106"/>
            <p:cNvSpPr txBox="true"/>
            <p:nvPr/>
          </p:nvSpPr>
          <p:spPr>
            <a:xfrm>
              <a:off x="203200" y="-123825"/>
              <a:ext cx="70592" cy="990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107" id="107"/>
          <p:cNvSpPr/>
          <p:nvPr/>
        </p:nvSpPr>
        <p:spPr>
          <a:xfrm>
            <a:off x="7319272" y="2566579"/>
            <a:ext cx="1095696" cy="125693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8" id="108"/>
          <p:cNvSpPr txBox="true"/>
          <p:nvPr/>
        </p:nvSpPr>
        <p:spPr>
          <a:xfrm rot="0">
            <a:off x="3961877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Grid Based Algorithm</a:t>
            </a:r>
          </a:p>
        </p:txBody>
      </p:sp>
      <p:sp>
        <p:nvSpPr>
          <p:cNvPr name="AutoShape 109" id="109"/>
          <p:cNvSpPr/>
          <p:nvPr/>
        </p:nvSpPr>
        <p:spPr>
          <a:xfrm flipH="true">
            <a:off x="6448183" y="7677497"/>
            <a:ext cx="1031315" cy="1264583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11208" y="1914464"/>
            <a:ext cx="9465730" cy="8150343"/>
            <a:chOff x="0" y="0"/>
            <a:chExt cx="2493032" cy="214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3032" cy="2146592"/>
            </a:xfrm>
            <a:custGeom>
              <a:avLst/>
              <a:gdLst/>
              <a:ahLst/>
              <a:cxnLst/>
              <a:rect r="r" b="b" t="t" l="l"/>
              <a:pathLst>
                <a:path h="2146592" w="2493032">
                  <a:moveTo>
                    <a:pt x="0" y="0"/>
                  </a:moveTo>
                  <a:lnTo>
                    <a:pt x="2493032" y="0"/>
                  </a:lnTo>
                  <a:lnTo>
                    <a:pt x="2493032" y="2146592"/>
                  </a:lnTo>
                  <a:lnTo>
                    <a:pt x="0" y="2146592"/>
                  </a:lnTo>
                  <a:close/>
                </a:path>
              </a:pathLst>
            </a:custGeom>
            <a:solidFill>
              <a:srgbClr val="F8F8F8"/>
            </a:solidFill>
            <a:ln w="38100" cap="sq">
              <a:solidFill>
                <a:srgbClr val="0F466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493032" cy="22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9106120" y="4014719"/>
            <a:ext cx="4732865" cy="36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4411208" y="4033768"/>
            <a:ext cx="4732865" cy="36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411208" y="5989636"/>
            <a:ext cx="93895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436704" y="1914399"/>
            <a:ext cx="9525" cy="4094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9067873" y="1914464"/>
            <a:ext cx="76200" cy="81503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741793" y="1914443"/>
            <a:ext cx="9525" cy="4094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862857" y="5246686"/>
            <a:ext cx="317365" cy="31736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03743" y="2424824"/>
            <a:ext cx="317365" cy="31736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75599" y="7234168"/>
            <a:ext cx="317365" cy="31736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373608" y="2742189"/>
            <a:ext cx="317365" cy="31736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44021" y="5500618"/>
            <a:ext cx="317365" cy="31736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94655" y="4770638"/>
            <a:ext cx="317365" cy="31736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03743" y="3399038"/>
            <a:ext cx="317365" cy="31736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97156" y="4929321"/>
            <a:ext cx="317365" cy="31736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41820" y="4332286"/>
            <a:ext cx="317365" cy="31736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421108" y="7392851"/>
            <a:ext cx="317365" cy="31736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024455" y="2583506"/>
            <a:ext cx="317365" cy="31736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723594" y="6618286"/>
            <a:ext cx="317365" cy="317365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373608" y="8845822"/>
            <a:ext cx="317365" cy="317365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310330" y="8687139"/>
            <a:ext cx="317365" cy="317365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951902" y="3399038"/>
            <a:ext cx="317365" cy="317365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93331" y="3525904"/>
            <a:ext cx="317365" cy="31736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110585" y="8066221"/>
            <a:ext cx="317365" cy="317365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135972" y="3557721"/>
            <a:ext cx="317365" cy="317365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294655" y="9163187"/>
            <a:ext cx="317365" cy="317365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910696" y="8687139"/>
            <a:ext cx="317365" cy="317365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74" id="74"/>
          <p:cNvSpPr/>
          <p:nvPr/>
        </p:nvSpPr>
        <p:spPr>
          <a:xfrm>
            <a:off x="5500503" y="4451133"/>
            <a:ext cx="444976" cy="81493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flipH="true">
            <a:off x="7265179" y="2563592"/>
            <a:ext cx="14499" cy="83547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flipH="true">
            <a:off x="8410565" y="3059554"/>
            <a:ext cx="121726" cy="50259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flipH="true" flipV="true">
            <a:off x="7416409" y="2621990"/>
            <a:ext cx="961897" cy="24039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flipH="true" flipV="true">
            <a:off x="7319791" y="3576565"/>
            <a:ext cx="1092386" cy="16177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 flipH="true">
            <a:off x="9861359" y="2880957"/>
            <a:ext cx="654797" cy="688634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 flipH="true" flipV="true">
            <a:off x="10554192" y="2888763"/>
            <a:ext cx="454919" cy="546955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1" id="81"/>
          <p:cNvGrpSpPr/>
          <p:nvPr/>
        </p:nvGrpSpPr>
        <p:grpSpPr>
          <a:xfrm rot="0">
            <a:off x="10348846" y="2742189"/>
            <a:ext cx="317365" cy="317365"/>
            <a:chOff x="0" y="0"/>
            <a:chExt cx="812800" cy="812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4" id="84"/>
          <p:cNvSpPr/>
          <p:nvPr/>
        </p:nvSpPr>
        <p:spPr>
          <a:xfrm flipH="true">
            <a:off x="9910019" y="3572476"/>
            <a:ext cx="1042560" cy="9735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flipH="true" flipV="true">
            <a:off x="5742079" y="7411416"/>
            <a:ext cx="1679481" cy="128053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flipH="true" flipV="true">
            <a:off x="6477678" y="8900817"/>
            <a:ext cx="1896128" cy="9568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flipH="true" flipV="true">
            <a:off x="5863810" y="7411877"/>
            <a:ext cx="543484" cy="128771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flipH="true" flipV="true">
            <a:off x="7596809" y="7503839"/>
            <a:ext cx="851525" cy="136598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 flipH="true" flipV="true">
            <a:off x="11896735" y="6717206"/>
            <a:ext cx="523435" cy="244945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flipV="true">
            <a:off x="10175674" y="6780810"/>
            <a:ext cx="1756709" cy="194719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>
            <a:off x="10225019" y="8876901"/>
            <a:ext cx="2072678" cy="41388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flipV="true">
            <a:off x="11331148" y="6923132"/>
            <a:ext cx="489247" cy="115560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flipV="true">
            <a:off x="10078609" y="8302540"/>
            <a:ext cx="1052232" cy="590137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>
            <a:off x="11385673" y="8332747"/>
            <a:ext cx="951258" cy="88128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>
            <a:off x="7319272" y="2563592"/>
            <a:ext cx="1095696" cy="125693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6" id="96"/>
          <p:cNvGrpSpPr/>
          <p:nvPr/>
        </p:nvGrpSpPr>
        <p:grpSpPr>
          <a:xfrm rot="0">
            <a:off x="8214521" y="3557721"/>
            <a:ext cx="317365" cy="317365"/>
            <a:chOff x="0" y="0"/>
            <a:chExt cx="812800" cy="8128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3961877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Grid Based Algorithm</a:t>
            </a:r>
          </a:p>
        </p:txBody>
      </p:sp>
      <p:sp>
        <p:nvSpPr>
          <p:cNvPr name="AutoShape 100" id="100"/>
          <p:cNvSpPr/>
          <p:nvPr/>
        </p:nvSpPr>
        <p:spPr>
          <a:xfrm flipH="true">
            <a:off x="6448183" y="7677497"/>
            <a:ext cx="1031315" cy="1264583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11208" y="1935788"/>
            <a:ext cx="9465730" cy="8150343"/>
            <a:chOff x="0" y="0"/>
            <a:chExt cx="2493032" cy="214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3032" cy="2146592"/>
            </a:xfrm>
            <a:custGeom>
              <a:avLst/>
              <a:gdLst/>
              <a:ahLst/>
              <a:cxnLst/>
              <a:rect r="r" b="b" t="t" l="l"/>
              <a:pathLst>
                <a:path h="2146592" w="2493032">
                  <a:moveTo>
                    <a:pt x="0" y="0"/>
                  </a:moveTo>
                  <a:lnTo>
                    <a:pt x="2493032" y="0"/>
                  </a:lnTo>
                  <a:lnTo>
                    <a:pt x="2493032" y="2146592"/>
                  </a:lnTo>
                  <a:lnTo>
                    <a:pt x="0" y="2146592"/>
                  </a:lnTo>
                  <a:close/>
                </a:path>
              </a:pathLst>
            </a:custGeom>
            <a:solidFill>
              <a:srgbClr val="F8F8F8"/>
            </a:solidFill>
            <a:ln w="38100" cap="sq">
              <a:solidFill>
                <a:srgbClr val="0F466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493032" cy="22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9106120" y="4036042"/>
            <a:ext cx="4732865" cy="36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4411208" y="4055092"/>
            <a:ext cx="4732865" cy="36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411208" y="6010959"/>
            <a:ext cx="93895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436704" y="1935722"/>
            <a:ext cx="9525" cy="4094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9067873" y="1935788"/>
            <a:ext cx="76200" cy="81503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741793" y="1935766"/>
            <a:ext cx="9525" cy="4094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862857" y="5268009"/>
            <a:ext cx="317365" cy="31736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03743" y="2446147"/>
            <a:ext cx="317365" cy="31736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75599" y="7255492"/>
            <a:ext cx="317365" cy="31736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373608" y="2763512"/>
            <a:ext cx="317365" cy="31736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44021" y="5521942"/>
            <a:ext cx="317365" cy="31736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94655" y="4791962"/>
            <a:ext cx="317365" cy="31736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03743" y="3420362"/>
            <a:ext cx="317365" cy="31736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897156" y="4950644"/>
            <a:ext cx="317365" cy="31736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341820" y="4353609"/>
            <a:ext cx="317365" cy="31736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421108" y="7414174"/>
            <a:ext cx="317365" cy="31736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024455" y="2604830"/>
            <a:ext cx="317365" cy="31736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723594" y="6639609"/>
            <a:ext cx="317365" cy="317365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373608" y="8867145"/>
            <a:ext cx="317365" cy="317365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310330" y="8708463"/>
            <a:ext cx="317365" cy="317365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951902" y="3420362"/>
            <a:ext cx="317365" cy="317365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93331" y="3547228"/>
            <a:ext cx="317365" cy="31736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110585" y="8087545"/>
            <a:ext cx="317365" cy="317365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135972" y="3579044"/>
            <a:ext cx="317365" cy="317365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294655" y="9184510"/>
            <a:ext cx="317365" cy="317365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910696" y="8708463"/>
            <a:ext cx="317365" cy="317365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74" id="74"/>
          <p:cNvSpPr/>
          <p:nvPr/>
        </p:nvSpPr>
        <p:spPr>
          <a:xfrm>
            <a:off x="5500503" y="4472457"/>
            <a:ext cx="444976" cy="81493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flipH="true">
            <a:off x="7265179" y="2584915"/>
            <a:ext cx="14499" cy="83547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flipH="true">
            <a:off x="8410565" y="3080878"/>
            <a:ext cx="121726" cy="50259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flipH="true" flipV="true">
            <a:off x="7416409" y="2643314"/>
            <a:ext cx="961897" cy="24039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flipH="true" flipV="true">
            <a:off x="7319791" y="3597889"/>
            <a:ext cx="1092386" cy="16177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 flipH="true">
            <a:off x="9861359" y="2902280"/>
            <a:ext cx="654797" cy="688634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 flipH="true" flipV="true">
            <a:off x="10554192" y="2910087"/>
            <a:ext cx="454919" cy="546955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flipH="true">
            <a:off x="9910019" y="3593799"/>
            <a:ext cx="1042560" cy="9735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flipH="true" flipV="true">
            <a:off x="5742079" y="7432739"/>
            <a:ext cx="1679481" cy="128053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flipH="true" flipV="true">
            <a:off x="6477678" y="8922141"/>
            <a:ext cx="1896128" cy="9568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flipH="true" flipV="true">
            <a:off x="5863810" y="7433201"/>
            <a:ext cx="543484" cy="128771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flipH="true" flipV="true">
            <a:off x="7596809" y="7525163"/>
            <a:ext cx="851525" cy="136598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flipH="true" flipV="true">
            <a:off x="11896735" y="6738530"/>
            <a:ext cx="523435" cy="244945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flipV="true">
            <a:off x="10175674" y="6802134"/>
            <a:ext cx="1756709" cy="194719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>
            <a:off x="10225019" y="8898225"/>
            <a:ext cx="2072678" cy="41388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 flipV="true">
            <a:off x="11331148" y="6944456"/>
            <a:ext cx="489247" cy="115560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flipV="true">
            <a:off x="10078609" y="8323863"/>
            <a:ext cx="1052232" cy="590137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>
            <a:off x="11385673" y="8354070"/>
            <a:ext cx="951258" cy="88128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>
            <a:off x="7319272" y="2584915"/>
            <a:ext cx="1095696" cy="125693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flipH="true">
            <a:off x="8690973" y="2922195"/>
            <a:ext cx="1657873" cy="0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4" id="94"/>
          <p:cNvGrpSpPr/>
          <p:nvPr/>
        </p:nvGrpSpPr>
        <p:grpSpPr>
          <a:xfrm rot="0">
            <a:off x="10348846" y="2763512"/>
            <a:ext cx="317365" cy="317365"/>
            <a:chOff x="0" y="0"/>
            <a:chExt cx="812800" cy="8128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97" id="97"/>
          <p:cNvSpPr/>
          <p:nvPr/>
        </p:nvSpPr>
        <p:spPr>
          <a:xfrm flipH="true" flipV="true">
            <a:off x="8665807" y="3007984"/>
            <a:ext cx="952691" cy="612138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 flipH="true">
            <a:off x="8531886" y="3710047"/>
            <a:ext cx="1061498" cy="27680"/>
          </a:xfrm>
          <a:prstGeom prst="line">
            <a:avLst/>
          </a:prstGeom>
          <a:ln cap="flat" w="38100">
            <a:solidFill>
              <a:srgbClr val="FF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9" id="99"/>
          <p:cNvGrpSpPr/>
          <p:nvPr/>
        </p:nvGrpSpPr>
        <p:grpSpPr>
          <a:xfrm rot="0">
            <a:off x="8214521" y="3579044"/>
            <a:ext cx="317365" cy="317365"/>
            <a:chOff x="0" y="0"/>
            <a:chExt cx="812800" cy="8128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3961877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Grid Based Algorithm</a:t>
            </a:r>
          </a:p>
        </p:txBody>
      </p:sp>
      <p:sp>
        <p:nvSpPr>
          <p:cNvPr name="AutoShape 103" id="103"/>
          <p:cNvSpPr/>
          <p:nvPr/>
        </p:nvSpPr>
        <p:spPr>
          <a:xfrm flipH="true">
            <a:off x="6448183" y="7677497"/>
            <a:ext cx="1031315" cy="1264583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11208" y="1914382"/>
            <a:ext cx="9465730" cy="8150343"/>
            <a:chOff x="0" y="0"/>
            <a:chExt cx="2493032" cy="214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93032" cy="2146592"/>
            </a:xfrm>
            <a:custGeom>
              <a:avLst/>
              <a:gdLst/>
              <a:ahLst/>
              <a:cxnLst/>
              <a:rect r="r" b="b" t="t" l="l"/>
              <a:pathLst>
                <a:path h="2146592" w="2493032">
                  <a:moveTo>
                    <a:pt x="0" y="0"/>
                  </a:moveTo>
                  <a:lnTo>
                    <a:pt x="2493032" y="0"/>
                  </a:lnTo>
                  <a:lnTo>
                    <a:pt x="2493032" y="2146592"/>
                  </a:lnTo>
                  <a:lnTo>
                    <a:pt x="0" y="2146592"/>
                  </a:lnTo>
                  <a:close/>
                </a:path>
              </a:pathLst>
            </a:custGeom>
            <a:solidFill>
              <a:srgbClr val="F8F8F8"/>
            </a:solidFill>
            <a:ln w="38100" cap="sq">
              <a:solidFill>
                <a:srgbClr val="0F466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493032" cy="22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9106120" y="4014637"/>
            <a:ext cx="4732865" cy="36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4411208" y="4033686"/>
            <a:ext cx="4732865" cy="36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411208" y="5989553"/>
            <a:ext cx="93895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436704" y="1914316"/>
            <a:ext cx="9525" cy="4094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9067873" y="1914382"/>
            <a:ext cx="76200" cy="81503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6741793" y="1914360"/>
            <a:ext cx="9525" cy="40948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348846" y="2742107"/>
            <a:ext cx="317365" cy="31736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62857" y="5246603"/>
            <a:ext cx="317365" cy="31736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03743" y="2424741"/>
            <a:ext cx="317365" cy="31736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75599" y="7234086"/>
            <a:ext cx="317365" cy="31736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373608" y="2742107"/>
            <a:ext cx="317365" cy="31736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44021" y="5500536"/>
            <a:ext cx="317365" cy="31736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94655" y="4770556"/>
            <a:ext cx="317365" cy="31736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03743" y="3398956"/>
            <a:ext cx="317365" cy="31736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97156" y="4929238"/>
            <a:ext cx="317365" cy="31736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41820" y="4332203"/>
            <a:ext cx="317365" cy="31736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421108" y="7392769"/>
            <a:ext cx="317365" cy="31736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14521" y="3557638"/>
            <a:ext cx="317365" cy="317365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024455" y="2583424"/>
            <a:ext cx="317365" cy="317365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723594" y="6618203"/>
            <a:ext cx="317365" cy="317365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373608" y="8845739"/>
            <a:ext cx="317365" cy="317365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10330" y="8687057"/>
            <a:ext cx="317365" cy="317365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951902" y="3398956"/>
            <a:ext cx="317365" cy="317365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93331" y="3525822"/>
            <a:ext cx="317365" cy="317365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110585" y="8066139"/>
            <a:ext cx="317365" cy="317365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135972" y="3557638"/>
            <a:ext cx="317365" cy="317365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294655" y="9163104"/>
            <a:ext cx="317365" cy="317365"/>
            <a:chOff x="0" y="0"/>
            <a:chExt cx="81280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910696" y="8687057"/>
            <a:ext cx="317365" cy="317365"/>
            <a:chOff x="0" y="0"/>
            <a:chExt cx="81280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4662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80" id="80"/>
          <p:cNvSpPr/>
          <p:nvPr/>
        </p:nvSpPr>
        <p:spPr>
          <a:xfrm>
            <a:off x="5500503" y="4451051"/>
            <a:ext cx="444976" cy="81493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flipH="true">
            <a:off x="7265179" y="2563509"/>
            <a:ext cx="14499" cy="83547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flipH="true">
            <a:off x="8410565" y="3059472"/>
            <a:ext cx="121726" cy="50259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flipH="true" flipV="true">
            <a:off x="7416409" y="2621908"/>
            <a:ext cx="961897" cy="24039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flipH="true" flipV="true">
            <a:off x="7319791" y="3576483"/>
            <a:ext cx="1092386" cy="16177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flipH="true">
            <a:off x="9861359" y="2880875"/>
            <a:ext cx="654797" cy="688634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flipH="true" flipV="true">
            <a:off x="10554192" y="2888681"/>
            <a:ext cx="454919" cy="546955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flipH="true">
            <a:off x="9910019" y="3572393"/>
            <a:ext cx="1042560" cy="9735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flipH="true" flipV="true">
            <a:off x="5742079" y="7411333"/>
            <a:ext cx="1679481" cy="128053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9" id="89"/>
          <p:cNvSpPr/>
          <p:nvPr/>
        </p:nvSpPr>
        <p:spPr>
          <a:xfrm flipH="true" flipV="true">
            <a:off x="6477678" y="8900735"/>
            <a:ext cx="1896128" cy="9568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flipH="true" flipV="true">
            <a:off x="5863810" y="7411795"/>
            <a:ext cx="543484" cy="128771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1" id="91"/>
          <p:cNvSpPr/>
          <p:nvPr/>
        </p:nvSpPr>
        <p:spPr>
          <a:xfrm flipH="true" flipV="true">
            <a:off x="7596809" y="7503757"/>
            <a:ext cx="851525" cy="1365986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2" id="92"/>
          <p:cNvSpPr/>
          <p:nvPr/>
        </p:nvSpPr>
        <p:spPr>
          <a:xfrm flipH="true" flipV="true">
            <a:off x="11896735" y="6717124"/>
            <a:ext cx="523435" cy="244945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3" id="93"/>
          <p:cNvSpPr/>
          <p:nvPr/>
        </p:nvSpPr>
        <p:spPr>
          <a:xfrm flipV="true">
            <a:off x="10175674" y="6780728"/>
            <a:ext cx="1756709" cy="194719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4" id="94"/>
          <p:cNvSpPr/>
          <p:nvPr/>
        </p:nvSpPr>
        <p:spPr>
          <a:xfrm>
            <a:off x="10225019" y="8876819"/>
            <a:ext cx="2072678" cy="413889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5" id="95"/>
          <p:cNvSpPr/>
          <p:nvPr/>
        </p:nvSpPr>
        <p:spPr>
          <a:xfrm flipV="true">
            <a:off x="11331148" y="6923050"/>
            <a:ext cx="489247" cy="115560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6" id="96"/>
          <p:cNvSpPr/>
          <p:nvPr/>
        </p:nvSpPr>
        <p:spPr>
          <a:xfrm flipV="true">
            <a:off x="10078609" y="8302457"/>
            <a:ext cx="1052232" cy="590137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7" id="97"/>
          <p:cNvSpPr/>
          <p:nvPr/>
        </p:nvSpPr>
        <p:spPr>
          <a:xfrm>
            <a:off x="11385673" y="8332664"/>
            <a:ext cx="951258" cy="88128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8" id="98"/>
          <p:cNvSpPr/>
          <p:nvPr/>
        </p:nvSpPr>
        <p:spPr>
          <a:xfrm>
            <a:off x="7319272" y="2563509"/>
            <a:ext cx="1095696" cy="1256932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9" id="99"/>
          <p:cNvSpPr/>
          <p:nvPr/>
        </p:nvSpPr>
        <p:spPr>
          <a:xfrm flipH="true">
            <a:off x="8690973" y="2900789"/>
            <a:ext cx="1657873" cy="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0" id="100"/>
          <p:cNvSpPr/>
          <p:nvPr/>
        </p:nvSpPr>
        <p:spPr>
          <a:xfrm flipH="true" flipV="true">
            <a:off x="8665807" y="2986578"/>
            <a:ext cx="952691" cy="612138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1" id="101"/>
          <p:cNvSpPr/>
          <p:nvPr/>
        </p:nvSpPr>
        <p:spPr>
          <a:xfrm flipH="true">
            <a:off x="8531886" y="3688641"/>
            <a:ext cx="1061498" cy="27680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2" id="102"/>
          <p:cNvSpPr txBox="true"/>
          <p:nvPr/>
        </p:nvSpPr>
        <p:spPr>
          <a:xfrm rot="0">
            <a:off x="3961877" y="366976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Grid Based Algorithm</a:t>
            </a:r>
          </a:p>
        </p:txBody>
      </p:sp>
      <p:sp>
        <p:nvSpPr>
          <p:cNvPr name="AutoShape 103" id="103"/>
          <p:cNvSpPr/>
          <p:nvPr/>
        </p:nvSpPr>
        <p:spPr>
          <a:xfrm flipH="true">
            <a:off x="6448183" y="7677497"/>
            <a:ext cx="1031315" cy="1264583"/>
          </a:xfrm>
          <a:prstGeom prst="line">
            <a:avLst/>
          </a:prstGeom>
          <a:ln cap="flat" w="381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065591" y="419417"/>
            <a:ext cx="1015681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Grid Based Algorithm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56066" y="2320478"/>
            <a:ext cx="10156818" cy="1094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(High level idea)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0436" y="4269164"/>
            <a:ext cx="16135956" cy="4973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9"/>
              </a:lnSpc>
            </a:pPr>
            <a:r>
              <a:rPr lang="en-US" sz="4056" b="true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Complexity Analysis:</a:t>
            </a:r>
          </a:p>
          <a:p>
            <a:pPr algn="l">
              <a:lnSpc>
                <a:spcPts val="5679"/>
              </a:lnSpc>
            </a:pPr>
            <a:r>
              <a:rPr lang="en-US" sz="4056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• Bounding box: O(n)</a:t>
            </a:r>
          </a:p>
          <a:p>
            <a:pPr algn="l">
              <a:lnSpc>
                <a:spcPts val="5679"/>
              </a:lnSpc>
            </a:pPr>
            <a:r>
              <a:rPr lang="en-US" sz="4056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• Recursive partitioning (Quad-tree): O(n*log n)</a:t>
            </a:r>
          </a:p>
          <a:p>
            <a:pPr algn="l">
              <a:lnSpc>
                <a:spcPts val="5679"/>
              </a:lnSpc>
            </a:pPr>
            <a:r>
              <a:rPr lang="en-US" sz="4056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• Local Triangulation (4 points): O(1)</a:t>
            </a:r>
          </a:p>
          <a:p>
            <a:pPr algn="l">
              <a:lnSpc>
                <a:spcPts val="5679"/>
              </a:lnSpc>
            </a:pPr>
            <a:r>
              <a:rPr lang="en-US" sz="4056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• Merging the Triangulations (boundary points): O(n*log n)</a:t>
            </a:r>
          </a:p>
          <a:p>
            <a:pPr algn="l">
              <a:lnSpc>
                <a:spcPts val="5679"/>
              </a:lnSpc>
            </a:pPr>
            <a:r>
              <a:rPr lang="en-US" sz="4056">
                <a:solidFill>
                  <a:srgbClr val="0F4662"/>
                </a:solidFill>
                <a:latin typeface="Open Sans"/>
                <a:ea typeface="Open Sans"/>
                <a:cs typeface="Open Sans"/>
                <a:sym typeface="Open Sans"/>
              </a:rPr>
              <a:t>• Output the Triangulation: O(1)</a:t>
            </a:r>
          </a:p>
          <a:p>
            <a:pPr algn="l" marL="0" indent="0" lvl="0">
              <a:lnSpc>
                <a:spcPts val="5679"/>
              </a:lnSpc>
              <a:spcBef>
                <a:spcPct val="0"/>
              </a:spcBef>
            </a:pPr>
            <a:r>
              <a:rPr lang="en-US" b="true" sz="4056">
                <a:solidFill>
                  <a:srgbClr val="0F466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Thus, overall Time Complexity is: O(n*log n)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DAGlKBuOLbQ</dc:identifier>
  <dcterms:modified xsi:type="dcterms:W3CDTF">2011-08-01T06:04:30Z</dcterms:modified>
  <cp:revision>1</cp:revision>
  <dc:title>Approximation Algorithm IT 584</dc:title>
</cp:coreProperties>
</file>